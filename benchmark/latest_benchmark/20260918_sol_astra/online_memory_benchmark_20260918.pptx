
<file path=[Content_Types].xml><?xml version="1.0" encoding="utf-8"?>
<Types xmlns="http://schemas.openxmlformats.org/package/2006/content-types">
  <Default Extension="jpeg" ContentType="image/jpeg"/>
  <Default Extension="JPG" ContentType="image/.jp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4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48" r:id="rId1"/>
  </p:sldMasterIdLst>
  <p:sldIdLst>
    <p:sldId id="256" r:id="rId3"/>
    <p:sldId id="257" r:id="rId4"/>
    <p:sldId id="258" r:id="rId5"/>
    <p:sldId id="259" r:id="rId6"/>
    <p:sldId id="260" r:id="rId7"/>
    <p:sldId id="261" r:id="rId8"/>
    <p:sldId id="262" r:id="rId9"/>
    <p:sldId id="263" r:id="rId10"/>
    <p:sldId id="264" r:id="rId11"/>
    <p:sldId id="265" r:id="rId12"/>
    <p:sldId id="266" r:id="rId13"/>
  </p:sldIdLst>
  <p:sldSz cx="1219136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288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度样式 2 - 强调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7.xml"/><Relationship Id="rId8" Type="http://schemas.openxmlformats.org/officeDocument/2006/relationships/slide" Target="slides/slide6.xml"/><Relationship Id="rId7" Type="http://schemas.openxmlformats.org/officeDocument/2006/relationships/slide" Target="slides/slide5.xml"/><Relationship Id="rId6" Type="http://schemas.openxmlformats.org/officeDocument/2006/relationships/slide" Target="slides/slide4.xml"/><Relationship Id="rId5" Type="http://schemas.openxmlformats.org/officeDocument/2006/relationships/slide" Target="slides/slide3.xml"/><Relationship Id="rId4" Type="http://schemas.openxmlformats.org/officeDocument/2006/relationships/slide" Target="slides/slide2.xml"/><Relationship Id="rId3" Type="http://schemas.openxmlformats.org/officeDocument/2006/relationships/slide" Target="slides/slide1.xml"/><Relationship Id="rId2" Type="http://schemas.openxmlformats.org/officeDocument/2006/relationships/theme" Target="theme/theme1.xml"/><Relationship Id="rId16" Type="http://schemas.openxmlformats.org/officeDocument/2006/relationships/tableStyles" Target="tableStyles.xml"/><Relationship Id="rId15" Type="http://schemas.openxmlformats.org/officeDocument/2006/relationships/viewProps" Target="viewProps.xml"/><Relationship Id="rId14" Type="http://schemas.openxmlformats.org/officeDocument/2006/relationships/presProps" Target="presProps.xml"/><Relationship Id="rId13" Type="http://schemas.openxmlformats.org/officeDocument/2006/relationships/slide" Target="slides/slide11.xml"/><Relationship Id="rId12" Type="http://schemas.openxmlformats.org/officeDocument/2006/relationships/slide" Target="slides/slide10.xml"/><Relationship Id="rId11" Type="http://schemas.openxmlformats.org/officeDocument/2006/relationships/slide" Target="slides/slide9.xml"/><Relationship Id="rId10" Type="http://schemas.openxmlformats.org/officeDocument/2006/relationships/slide" Target="slides/slide8.xml"/><Relationship Id="rId1" Type="http://schemas.openxmlformats.org/officeDocument/2006/relationships/slideMaster" Target="slideMasters/slideMaster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2" Type="http://schemas.openxmlformats.org/officeDocument/2006/relationships/theme" Target="../theme/theme1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 panose="020B0604020202090204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 panose="020B0604020202090204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 panose="020B0604020202090204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 panose="020B0604020202090204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 panose="020B0604020202090204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 panose="020B0604020202090204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 panose="020B0604020202090204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 panose="020B0604020202090204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 panose="020B0604020202090204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1643055" y="6537960"/>
            <a:ext cx="4572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>
                <a:solidFill>
                  <a:srgbClr val="5A6A7A"/>
                </a:solidFill>
                <a:latin typeface="Calibri"/>
              </a:rPr>
              <a:t>1</a:t>
            </a:r>
            <a:endParaRPr sz="1000">
              <a:solidFill>
                <a:srgbClr val="5A6A7A"/>
              </a:solidFill>
              <a:latin typeface="Calibri"/>
            </a:endParaRPr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12D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22960" y="1463040"/>
            <a:ext cx="1051560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4400" b="1">
                <a:solidFill>
                  <a:srgbClr val="FFFFFF"/>
                </a:solidFill>
                <a:latin typeface="Calibri"/>
              </a:rPr>
              <a:t>Online Long-Horizon Memory Benchmark</a:t>
            </a:r>
            <a:endParaRPr sz="4400" b="1">
              <a:solidFill>
                <a:srgbClr val="FFFFFF"/>
              </a:solidFill>
              <a:latin typeface="Calibri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822960" y="2423160"/>
            <a:ext cx="10515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2000" b="0">
                <a:solidFill>
                  <a:srgbClr val="BFD4E6"/>
                </a:solidFill>
                <a:latin typeface="Calibri"/>
              </a:rPr>
              <a:t>Streaming video memory construction, consolidation, and retrieval — Terra / Sol run 20260918</a:t>
            </a:r>
            <a:endParaRPr sz="2000" b="0">
              <a:solidFill>
                <a:srgbClr val="BFD4E6"/>
              </a:solidFill>
              <a:latin typeface="Calibri"/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822960" y="3749039"/>
            <a:ext cx="105156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Aft>
                <a:spcPts val="800"/>
              </a:spcAft>
            </a:pPr>
            <a:r>
              <a:rPr sz="1500" b="0">
                <a:solidFill>
                  <a:srgbClr val="BFD4E6"/>
                </a:solidFill>
                <a:latin typeface="Calibri"/>
              </a:rPr>
              <a:t>StreamMeCo (M3) × Mandol × consolidation runtime</a:t>
            </a:r>
            <a:endParaRPr sz="1500" b="0">
              <a:solidFill>
                <a:srgbClr val="BFD4E6"/>
              </a:solidFill>
              <a:latin typeface="Calibri"/>
            </a:endParaRPr>
          </a:p>
          <a:p>
            <a:pPr algn="l">
              <a:lnSpc>
                <a:spcPct val="100000"/>
              </a:lnSpc>
              <a:spcAft>
                <a:spcPts val="800"/>
              </a:spcAft>
            </a:pPr>
            <a:r>
              <a:rPr sz="1500" b="0">
                <a:solidFill>
                  <a:srgbClr val="BFD4E6"/>
                </a:solidFill>
                <a:latin typeface="Calibri"/>
              </a:rPr>
              <a:t>EgoLife Jake Day 1 (102 QA) + AEA 6 h (1,000 QA) · RTX A6000 · Hyperstack 1042997</a:t>
            </a:r>
            <a:endParaRPr sz="1500" b="0">
              <a:solidFill>
                <a:srgbClr val="BFD4E6"/>
              </a:solidFill>
              <a:latin typeface="Calibri"/>
            </a:endParaRPr>
          </a:p>
          <a:p>
            <a:pPr algn="l">
              <a:lnSpc>
                <a:spcPct val="100000"/>
              </a:lnSpc>
              <a:spcAft>
                <a:spcPts val="800"/>
              </a:spcAft>
            </a:pPr>
            <a:r>
              <a:rPr sz="1500" b="0">
                <a:solidFill>
                  <a:srgbClr val="F0C87A"/>
                </a:solidFill>
                <a:latin typeface="Calibri"/>
              </a:rPr>
              <a:t>Status: Jake prefix 0–2,808 s evaluated; run halted at 302.AI embedding failure (fail-closed)</a:t>
            </a:r>
            <a:endParaRPr sz="1500" b="0">
              <a:solidFill>
                <a:srgbClr val="F0C87A"/>
              </a:solidFill>
              <a:latin typeface="Calibri"/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822960" y="6035040"/>
            <a:ext cx="10515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300" b="0">
                <a:solidFill>
                  <a:srgbClr val="8FA6BC"/>
                </a:solidFill>
                <a:latin typeface="Calibri"/>
              </a:rPr>
              <a:t>18 September 2026</a:t>
            </a:r>
            <a:endParaRPr sz="1300" b="0">
              <a:solidFill>
                <a:srgbClr val="8FA6BC"/>
              </a:solidFill>
              <a:latin typeface="Calibri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1643055" y="6537960"/>
            <a:ext cx="4572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>
                <a:solidFill>
                  <a:srgbClr val="5A6A7A"/>
                </a:solidFill>
                <a:latin typeface="Calibri"/>
              </a:rPr>
              <a:t>2</a:t>
            </a:r>
            <a:endParaRPr sz="1000">
              <a:solidFill>
                <a:srgbClr val="5A6A7A"/>
              </a:solidFill>
              <a:latin typeface="Calibri"/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411480" y="201168"/>
            <a:ext cx="98755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3000" b="1">
                <a:solidFill>
                  <a:srgbClr val="112D4E"/>
                </a:solidFill>
                <a:latin typeface="Calibri"/>
              </a:rPr>
              <a:t>TST — target speaker tagging (voice identity mapping)</a:t>
            </a:r>
            <a:endParaRPr sz="3000" b="1">
              <a:solidFill>
                <a:srgbClr val="112D4E"/>
              </a:solidFill>
              <a:latin typeface="Calibri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9814255" y="320040"/>
            <a:ext cx="20116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lnSpc>
                <a:spcPct val="100000"/>
              </a:lnSpc>
              <a:spcAft>
                <a:spcPts val="400"/>
              </a:spcAft>
            </a:pPr>
            <a:r>
              <a:rPr sz="1300" b="1">
                <a:solidFill>
                  <a:srgbClr val="2E6DA4"/>
                </a:solidFill>
                <a:latin typeface="Calibri"/>
              </a:rPr>
              <a:t>TST · ALGORITHM</a:t>
            </a:r>
            <a:endParaRPr sz="1300" b="1">
              <a:solidFill>
                <a:srgbClr val="2E6DA4"/>
              </a:solidFill>
              <a:latin typeface="Calibri"/>
            </a:endParaRPr>
          </a:p>
        </p:txBody>
      </p:sp>
      <p:sp>
        <p:nvSpPr>
          <p:cNvPr id="7" name="Rounded Rectangle 6"/>
          <p:cNvSpPr/>
          <p:nvPr/>
        </p:nvSpPr>
        <p:spPr>
          <a:xfrm>
            <a:off x="411480" y="1691640"/>
            <a:ext cx="3657600" cy="1051560"/>
          </a:xfrm>
          <a:prstGeom prst="roundRect">
            <a:avLst>
              <a:gd name="adj" fmla="val 8000"/>
            </a:avLst>
          </a:prstGeom>
          <a:solidFill>
            <a:srgbClr val="EAF1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64592" tIns="91440" rtlCol="0" anchor="ctr"/>
          <a:lstStyle/>
          <a:p>
            <a:pPr algn="ctr">
              <a:spcAft>
                <a:spcPts val="200"/>
              </a:spcAft>
            </a:pPr>
            <a:r>
              <a:rPr sz="1300" b="1">
                <a:solidFill>
                  <a:srgbClr val="112D4E"/>
                </a:solidFill>
                <a:latin typeface="Calibri"/>
              </a:rPr>
              <a:t>Encoder</a:t>
            </a:r>
            <a:endParaRPr sz="1300" b="1">
              <a:solidFill>
                <a:srgbClr val="112D4E"/>
              </a:solidFill>
              <a:latin typeface="Calibri"/>
            </a:endParaRPr>
          </a:p>
          <a:p>
            <a:pPr>
              <a:spcAft>
                <a:spcPts val="200"/>
              </a:spcAft>
            </a:pPr>
            <a:r>
              <a:rPr sz="2200" b="1">
                <a:solidFill>
                  <a:srgbClr val="2E6DA4"/>
                </a:solidFill>
                <a:latin typeface="Calibri"/>
              </a:rPr>
              <a:t>ECAPA-TDNN · 192-d</a:t>
            </a:r>
            <a:endParaRPr sz="2200" b="1">
              <a:solidFill>
                <a:srgbClr val="2E6DA4"/>
              </a:solidFill>
              <a:latin typeface="Calibri"/>
            </a:endParaRPr>
          </a:p>
          <a:p>
            <a:pPr>
              <a:spcAft>
                <a:spcPts val="200"/>
              </a:spcAft>
            </a:pPr>
            <a:r>
              <a:rPr sz="1100" b="0">
                <a:solidFill>
                  <a:srgbClr val="5A6A7A"/>
                </a:solidFill>
                <a:latin typeface="Calibri"/>
              </a:rPr>
              <a:t>SpeechBrain spkrec-ecapa-voxceleb, pinned revision</a:t>
            </a:r>
            <a:endParaRPr sz="1100" b="0">
              <a:solidFill>
                <a:srgbClr val="5A6A7A"/>
              </a:solidFill>
              <a:latin typeface="Calibri"/>
            </a:endParaRPr>
          </a:p>
        </p:txBody>
      </p:sp>
      <p:sp>
        <p:nvSpPr>
          <p:cNvPr id="8" name="Rounded Rectangle 7"/>
          <p:cNvSpPr/>
          <p:nvPr/>
        </p:nvSpPr>
        <p:spPr>
          <a:xfrm>
            <a:off x="4251960" y="1691640"/>
            <a:ext cx="3657600" cy="1051560"/>
          </a:xfrm>
          <a:prstGeom prst="roundRect">
            <a:avLst>
              <a:gd name="adj" fmla="val 8000"/>
            </a:avLst>
          </a:prstGeom>
          <a:solidFill>
            <a:srgbClr val="EAF6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64592" tIns="91440" rtlCol="0" anchor="ctr"/>
          <a:lstStyle/>
          <a:p>
            <a:pPr algn="ctr">
              <a:spcAft>
                <a:spcPts val="200"/>
              </a:spcAft>
            </a:pPr>
            <a:r>
              <a:rPr sz="1300" b="1">
                <a:solidFill>
                  <a:srgbClr val="112D4E"/>
                </a:solidFill>
                <a:latin typeface="Calibri"/>
              </a:rPr>
              <a:t>Windows</a:t>
            </a:r>
            <a:endParaRPr sz="1300" b="1">
              <a:solidFill>
                <a:srgbClr val="112D4E"/>
              </a:solidFill>
              <a:latin typeface="Calibri"/>
            </a:endParaRPr>
          </a:p>
          <a:p>
            <a:pPr>
              <a:spcAft>
                <a:spcPts val="200"/>
              </a:spcAft>
            </a:pPr>
            <a:r>
              <a:rPr sz="2200" b="1">
                <a:solidFill>
                  <a:srgbClr val="2E7D4F"/>
                </a:solidFill>
                <a:latin typeface="Calibri"/>
              </a:rPr>
              <a:t>4 s / 1.5 s shift</a:t>
            </a:r>
            <a:endParaRPr sz="2200" b="1">
              <a:solidFill>
                <a:srgbClr val="2E7D4F"/>
              </a:solidFill>
              <a:latin typeface="Calibri"/>
            </a:endParaRPr>
          </a:p>
          <a:p>
            <a:pPr>
              <a:spcAft>
                <a:spcPts val="200"/>
              </a:spcAft>
            </a:pPr>
            <a:r>
              <a:rPr sz="1100" b="0">
                <a:solidFill>
                  <a:srgbClr val="5A6A7A"/>
                </a:solidFill>
                <a:latin typeface="Calibri"/>
              </a:rPr>
              <a:t>Sliding windows; end-aligned tail; no synthetic padding</a:t>
            </a:r>
            <a:endParaRPr sz="1100" b="0">
              <a:solidFill>
                <a:srgbClr val="5A6A7A"/>
              </a:solidFill>
              <a:latin typeface="Calibri"/>
            </a:endParaRPr>
          </a:p>
        </p:txBody>
      </p:sp>
      <p:sp>
        <p:nvSpPr>
          <p:cNvPr id="9" name="Rounded Rectangle 8"/>
          <p:cNvSpPr/>
          <p:nvPr/>
        </p:nvSpPr>
        <p:spPr>
          <a:xfrm>
            <a:off x="8092440" y="1691640"/>
            <a:ext cx="3657600" cy="1051560"/>
          </a:xfrm>
          <a:prstGeom prst="roundRect">
            <a:avLst>
              <a:gd name="adj" fmla="val 8000"/>
            </a:avLst>
          </a:prstGeom>
          <a:solidFill>
            <a:srgbClr val="FDF3E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64592" tIns="91440" rtlCol="0" anchor="ctr"/>
          <a:lstStyle/>
          <a:p>
            <a:pPr algn="ctr">
              <a:spcAft>
                <a:spcPts val="200"/>
              </a:spcAft>
            </a:pPr>
            <a:r>
              <a:rPr sz="1300" b="1">
                <a:solidFill>
                  <a:srgbClr val="112D4E"/>
                </a:solidFill>
                <a:latin typeface="Calibri"/>
              </a:rPr>
              <a:t>Decision</a:t>
            </a:r>
            <a:endParaRPr sz="1300" b="1">
              <a:solidFill>
                <a:srgbClr val="112D4E"/>
              </a:solidFill>
              <a:latin typeface="Calibri"/>
            </a:endParaRPr>
          </a:p>
          <a:p>
            <a:pPr>
              <a:spcAft>
                <a:spcPts val="200"/>
              </a:spcAft>
            </a:pPr>
            <a:r>
              <a:rPr sz="2200" b="1">
                <a:solidFill>
                  <a:srgbClr val="B47A1E"/>
                </a:solidFill>
                <a:latin typeface="Calibri"/>
              </a:rPr>
              <a:t>argmax ≥ θ</a:t>
            </a:r>
            <a:endParaRPr sz="2200" b="1">
              <a:solidFill>
                <a:srgbClr val="B47A1E"/>
              </a:solidFill>
              <a:latin typeface="Calibri"/>
            </a:endParaRPr>
          </a:p>
          <a:p>
            <a:pPr>
              <a:spcAft>
                <a:spcPts val="200"/>
              </a:spcAft>
            </a:pPr>
            <a:r>
              <a:rPr sz="1100" b="0">
                <a:solidFill>
                  <a:srgbClr val="5A6A7A"/>
                </a:solidFill>
                <a:latin typeface="Calibri"/>
              </a:rPr>
              <a:t>Open-set: highest enrolled identity else non_target</a:t>
            </a:r>
            <a:endParaRPr sz="1100" b="0">
              <a:solidFill>
                <a:srgbClr val="5A6A7A"/>
              </a:solidFill>
              <a:latin typeface="Calibri"/>
            </a:endParaRPr>
          </a:p>
        </p:txBody>
      </p:sp>
      <p:sp>
        <p:nvSpPr>
          <p:cNvPr id="10" name="TextBox 9"/>
          <p:cNvSpPr txBox="1"/>
          <p:nvPr/>
        </p:nvSpPr>
        <p:spPr>
          <a:xfrm>
            <a:off x="411480" y="2971800"/>
            <a:ext cx="5486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300" b="1">
                <a:solidFill>
                  <a:srgbClr val="2E6DA4"/>
                </a:solidFill>
                <a:latin typeface="Calibri"/>
              </a:rPr>
              <a:t>Scoring pipeline</a:t>
            </a:r>
            <a:endParaRPr sz="1300" b="1">
              <a:solidFill>
                <a:srgbClr val="2E6DA4"/>
              </a:solidFill>
              <a:latin typeface="Calibri"/>
            </a:endParaRPr>
          </a:p>
        </p:txBody>
      </p:sp>
      <p:sp>
        <p:nvSpPr>
          <p:cNvPr id="11" name="TextBox 10"/>
          <p:cNvSpPr txBox="1"/>
          <p:nvPr/>
        </p:nvSpPr>
        <p:spPr>
          <a:xfrm>
            <a:off x="411480" y="3291840"/>
            <a:ext cx="5577840" cy="3108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04000"/>
              </a:lnSpc>
              <a:spcAft>
                <a:spcPts val="600"/>
              </a:spcAft>
            </a:pPr>
            <a:r>
              <a:rPr sz="1300" b="1">
                <a:solidFill>
                  <a:srgbClr val="333333"/>
                </a:solidFill>
                <a:latin typeface="Calibri"/>
              </a:rPr>
              <a:t>•  Score pooling:</a:t>
            </a:r>
            <a:r>
              <a:rPr sz="1300" b="0">
                <a:solidFill>
                  <a:srgbClr val="333333"/>
                </a:solidFill>
                <a:latin typeface="Calibri"/>
              </a:rPr>
              <a:t> mean of all window-pair trial scores — never centroid cosine</a:t>
            </a:r>
            <a:endParaRPr sz="1300" b="0">
              <a:solidFill>
                <a:srgbClr val="333333"/>
              </a:solidFill>
              <a:latin typeface="Calibri"/>
            </a:endParaRPr>
          </a:p>
          <a:p>
            <a:pPr>
              <a:lnSpc>
                <a:spcPct val="104000"/>
              </a:lnSpc>
              <a:spcAft>
                <a:spcPts val="600"/>
              </a:spcAft>
            </a:pPr>
            <a:r>
              <a:rPr sz="1300" b="1">
                <a:solidFill>
                  <a:srgbClr val="333333"/>
                </a:solidFill>
                <a:latin typeface="Calibri"/>
              </a:rPr>
              <a:t>•  AS-Norm:</a:t>
            </a:r>
            <a:r>
              <a:rPr sz="1300" b="0">
                <a:solidFill>
                  <a:srgbClr val="333333"/>
                </a:solidFill>
                <a:latin typeface="Calibri"/>
              </a:rPr>
              <a:t> symmetric adaptive normalization over a 2,000-speaker VoxBlink2 cohort (top-20)</a:t>
            </a:r>
            <a:endParaRPr sz="1300" b="0">
              <a:solidFill>
                <a:srgbClr val="333333"/>
              </a:solidFill>
              <a:latin typeface="Calibri"/>
            </a:endParaRPr>
          </a:p>
          <a:p>
            <a:pPr>
              <a:lnSpc>
                <a:spcPct val="104000"/>
              </a:lnSpc>
              <a:spcAft>
                <a:spcPts val="600"/>
              </a:spcAft>
            </a:pPr>
            <a:r>
              <a:rPr sz="1300" b="1">
                <a:solidFill>
                  <a:srgbClr val="333333"/>
                </a:solidFill>
                <a:latin typeface="Calibri"/>
              </a:rPr>
              <a:t>•  Compensation:</a:t>
            </a:r>
            <a:r>
              <a:rPr sz="1300" b="0">
                <a:solidFill>
                  <a:srgbClr val="333333"/>
                </a:solidFill>
                <a:latin typeface="Calibri"/>
              </a:rPr>
              <a:t> top-N (1/2/3) same-label segment mean for queries &lt; 4 s; neighbors from original embeddings only</a:t>
            </a:r>
            <a:endParaRPr sz="1300" b="0">
              <a:solidFill>
                <a:srgbClr val="333333"/>
              </a:solidFill>
              <a:latin typeface="Calibri"/>
            </a:endParaRPr>
          </a:p>
          <a:p>
            <a:pPr>
              <a:lnSpc>
                <a:spcPct val="104000"/>
              </a:lnSpc>
              <a:spcAft>
                <a:spcPts val="600"/>
              </a:spcAft>
            </a:pPr>
            <a:r>
              <a:rPr sz="1300" b="1">
                <a:solidFill>
                  <a:srgbClr val="333333"/>
                </a:solidFill>
                <a:latin typeface="Calibri"/>
              </a:rPr>
              <a:t>•  Invariants:</a:t>
            </a:r>
            <a:r>
              <a:rPr sz="1300" b="0">
                <a:solidFill>
                  <a:srgbClr val="333333"/>
                </a:solidFill>
                <a:latin typeface="Calibri"/>
              </a:rPr>
              <a:t> one diarization provider per run; enrollment frozen; encoders never mixed; text never influences identity</a:t>
            </a:r>
            <a:endParaRPr sz="1300" b="0">
              <a:solidFill>
                <a:srgbClr val="333333"/>
              </a:solidFill>
              <a:latin typeface="Calibri"/>
            </a:endParaRPr>
          </a:p>
        </p:txBody>
      </p:sp>
      <p:sp>
        <p:nvSpPr>
          <p:cNvPr id="12" name="TextBox 11"/>
          <p:cNvSpPr txBox="1"/>
          <p:nvPr/>
        </p:nvSpPr>
        <p:spPr>
          <a:xfrm>
            <a:off x="6355080" y="2971800"/>
            <a:ext cx="5486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300" b="1">
                <a:solidFill>
                  <a:srgbClr val="2E6DA4"/>
                </a:solidFill>
                <a:latin typeface="Calibri"/>
              </a:rPr>
              <a:t>How the benchmark uses it</a:t>
            </a:r>
            <a:endParaRPr sz="1300" b="1">
              <a:solidFill>
                <a:srgbClr val="2E6DA4"/>
              </a:solidFill>
              <a:latin typeface="Calibri"/>
            </a:endParaRPr>
          </a:p>
        </p:txBody>
      </p:sp>
      <p:sp>
        <p:nvSpPr>
          <p:cNvPr id="13" name="TextBox 12"/>
          <p:cNvSpPr txBox="1"/>
          <p:nvPr/>
        </p:nvSpPr>
        <p:spPr>
          <a:xfrm>
            <a:off x="6355080" y="3291840"/>
            <a:ext cx="5486400" cy="3108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04000"/>
              </a:lnSpc>
              <a:spcAft>
                <a:spcPts val="600"/>
              </a:spcAft>
            </a:pPr>
            <a:r>
              <a:rPr sz="1300" b="1">
                <a:solidFill>
                  <a:srgbClr val="333333"/>
                </a:solidFill>
                <a:latin typeface="Calibri"/>
              </a:rPr>
              <a:t>•  Online TST policy:</a:t>
            </a:r>
            <a:r>
              <a:rPr sz="1300" b="0">
                <a:solidFill>
                  <a:srgbClr val="333333"/>
                </a:solidFill>
                <a:latin typeface="Calibri"/>
              </a:rPr>
              <a:t> ECAPA vectors feed the unchanged native VideoGraph voice policy — mean pairwise cosine, threshold 0.6, ≤20 embeddings per node</a:t>
            </a:r>
            <a:endParaRPr sz="1300" b="0">
              <a:solidFill>
                <a:srgbClr val="333333"/>
              </a:solidFill>
              <a:latin typeface="Calibri"/>
            </a:endParaRPr>
          </a:p>
          <a:p>
            <a:pPr>
              <a:lnSpc>
                <a:spcPct val="104000"/>
              </a:lnSpc>
              <a:spcAft>
                <a:spcPts val="600"/>
              </a:spcAft>
            </a:pPr>
            <a:r>
              <a:rPr sz="1300" b="1">
                <a:solidFill>
                  <a:srgbClr val="333333"/>
                </a:solidFill>
                <a:latin typeface="Calibri"/>
              </a:rPr>
              <a:t>•  No pre-enrollment:</a:t>
            </a:r>
            <a:r>
              <a:rPr sz="1300" b="0">
                <a:solidFill>
                  <a:srgbClr val="333333"/>
                </a:solidFill>
                <a:latin typeface="Calibri"/>
              </a:rPr>
              <a:t> graphs start empty; unknown speech creates voice nodes (C2–C4); C1 keeps native CAM++</a:t>
            </a:r>
            <a:endParaRPr sz="1300" b="0">
              <a:solidFill>
                <a:srgbClr val="333333"/>
              </a:solidFill>
              <a:latin typeface="Calibri"/>
            </a:endParaRPr>
          </a:p>
          <a:p>
            <a:pPr>
              <a:lnSpc>
                <a:spcPct val="104000"/>
              </a:lnSpc>
              <a:spcAft>
                <a:spcPts val="600"/>
              </a:spcAft>
            </a:pPr>
            <a:r>
              <a:rPr sz="1300" b="1">
                <a:solidFill>
                  <a:srgbClr val="333333"/>
                </a:solidFill>
                <a:latin typeface="Calibri"/>
              </a:rPr>
              <a:t>•  Frozen-enrollment evaluation deferred:</a:t>
            </a:r>
            <a:r>
              <a:rPr sz="1300" b="0">
                <a:solidFill>
                  <a:srgbClr val="333333"/>
                </a:solidFill>
                <a:latin typeface="Calibri"/>
              </a:rPr>
              <a:t> A/B/C/D comparison (CAM++ / cosine / AS-Norm / AS-Norm+top3) with DIR, FAR, FRR on held-out splits</a:t>
            </a:r>
            <a:endParaRPr sz="1300" b="0">
              <a:solidFill>
                <a:srgbClr val="333333"/>
              </a:solidFill>
              <a:latin typeface="Calibri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1643055" y="6537960"/>
            <a:ext cx="4572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>
                <a:solidFill>
                  <a:srgbClr val="5A6A7A"/>
                </a:solidFill>
                <a:latin typeface="Calibri"/>
              </a:rPr>
              <a:t>3</a:t>
            </a:r>
            <a:endParaRPr sz="1000">
              <a:solidFill>
                <a:srgbClr val="5A6A7A"/>
              </a:solidFill>
              <a:latin typeface="Calibri"/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411480" y="201168"/>
            <a:ext cx="98755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3000" b="1">
                <a:solidFill>
                  <a:srgbClr val="112D4E"/>
                </a:solidFill>
                <a:latin typeface="Calibri"/>
              </a:rPr>
              <a:t>Consolidation — the evidence package for the reasoning model</a:t>
            </a:r>
            <a:endParaRPr sz="3000" b="1">
              <a:solidFill>
                <a:srgbClr val="112D4E"/>
              </a:solidFill>
              <a:latin typeface="Calibri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9814255" y="320040"/>
            <a:ext cx="20116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lnSpc>
                <a:spcPct val="100000"/>
              </a:lnSpc>
              <a:spcAft>
                <a:spcPts val="400"/>
              </a:spcAft>
            </a:pPr>
            <a:r>
              <a:rPr sz="1300" b="1">
                <a:solidFill>
                  <a:srgbClr val="2E6DA4"/>
                </a:solidFill>
                <a:latin typeface="Calibri"/>
              </a:rPr>
              <a:t>CONSOLIDATION</a:t>
            </a:r>
            <a:endParaRPr sz="1300" b="1">
              <a:solidFill>
                <a:srgbClr val="2E6DA4"/>
              </a:solidFill>
              <a:latin typeface="Calibri"/>
            </a:endParaRPr>
          </a:p>
        </p:txBody>
      </p:sp>
      <p:sp>
        <p:nvSpPr>
          <p:cNvPr id="5" name="Rectangle 4"/>
          <p:cNvSpPr/>
          <p:nvPr/>
        </p:nvSpPr>
        <p:spPr>
          <a:xfrm>
            <a:off x="411480" y="896112"/>
            <a:ext cx="11368735" cy="475488"/>
          </a:xfrm>
          <a:prstGeom prst="rect">
            <a:avLst/>
          </a:prstGeom>
          <a:noFill/>
          <a:ln w="12700">
            <a:solidFill>
              <a:srgbClr val="C9D4D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9728" tIns="54864" bIns="36576" rtlCol="0" anchor="ctr"/>
          <a:lstStyle/>
          <a:p>
            <a:pPr algn="ctr"/>
            <a:r>
              <a:rPr sz="1350">
                <a:solidFill>
                  <a:srgbClr val="5A6A7A"/>
                </a:solidFill>
                <a:latin typeface="Calibri"/>
              </a:rPr>
              <a:t>One incremental window per call (previous cutoff → current cutoff). Example below: jake/C3 first window @ ~1,200 s.</a:t>
            </a:r>
            <a:endParaRPr sz="1350">
              <a:solidFill>
                <a:srgbClr val="5A6A7A"/>
              </a:solidFill>
              <a:latin typeface="Calibri"/>
            </a:endParaRPr>
          </a:p>
        </p:txBody>
      </p:sp>
      <p:sp>
        <p:nvSpPr>
          <p:cNvPr id="6" name="Rectangle 5"/>
          <p:cNvSpPr/>
          <p:nvPr/>
        </p:nvSpPr>
        <p:spPr>
          <a:xfrm>
            <a:off x="411480" y="1481328"/>
            <a:ext cx="11368735" cy="19050"/>
          </a:xfrm>
          <a:prstGeom prst="rect">
            <a:avLst/>
          </a:prstGeom>
          <a:solidFill>
            <a:srgbClr val="C9D4D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411480" y="1645920"/>
            <a:ext cx="3657600" cy="868680"/>
          </a:xfrm>
          <a:prstGeom prst="roundRect">
            <a:avLst>
              <a:gd name="adj" fmla="val 8000"/>
            </a:avLst>
          </a:prstGeom>
          <a:solidFill>
            <a:srgbClr val="EAF1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64592" tIns="91440" rtlCol="0" anchor="ctr"/>
          <a:lstStyle/>
          <a:p>
            <a:pPr algn="ctr">
              <a:spcAft>
                <a:spcPts val="200"/>
              </a:spcAft>
            </a:pPr>
            <a:r>
              <a:rPr sz="1300" b="1">
                <a:solidFill>
                  <a:srgbClr val="112D4E"/>
                </a:solidFill>
                <a:latin typeface="Calibri"/>
              </a:rPr>
              <a:t>Evidence packet</a:t>
            </a:r>
            <a:endParaRPr sz="1300" b="1">
              <a:solidFill>
                <a:srgbClr val="112D4E"/>
              </a:solidFill>
              <a:latin typeface="Calibri"/>
            </a:endParaRPr>
          </a:p>
          <a:p>
            <a:pPr>
              <a:spcAft>
                <a:spcPts val="200"/>
              </a:spcAft>
            </a:pPr>
            <a:r>
              <a:rPr sz="2200" b="1">
                <a:solidFill>
                  <a:srgbClr val="2E6DA4"/>
                </a:solidFill>
                <a:latin typeface="Calibri"/>
              </a:rPr>
              <a:t>285 KB JSON</a:t>
            </a:r>
            <a:endParaRPr sz="2200" b="1">
              <a:solidFill>
                <a:srgbClr val="2E6DA4"/>
              </a:solidFill>
              <a:latin typeface="Calibri"/>
            </a:endParaRPr>
          </a:p>
          <a:p>
            <a:pPr>
              <a:spcAft>
                <a:spcPts val="200"/>
              </a:spcAft>
            </a:pPr>
            <a:r>
              <a:rPr sz="1100" b="0">
                <a:solidFill>
                  <a:srgbClr val="5A6A7A"/>
                </a:solidFill>
                <a:latin typeface="Calibri"/>
              </a:rPr>
              <a:t>Single window payload, schema-constrained</a:t>
            </a:r>
            <a:endParaRPr sz="1100" b="0">
              <a:solidFill>
                <a:srgbClr val="5A6A7A"/>
              </a:solidFill>
              <a:latin typeface="Calibri"/>
            </a:endParaRPr>
          </a:p>
        </p:txBody>
      </p:sp>
      <p:sp>
        <p:nvSpPr>
          <p:cNvPr id="8" name="Rounded Rectangle 7"/>
          <p:cNvSpPr/>
          <p:nvPr/>
        </p:nvSpPr>
        <p:spPr>
          <a:xfrm>
            <a:off x="4251960" y="1645920"/>
            <a:ext cx="3657600" cy="868680"/>
          </a:xfrm>
          <a:prstGeom prst="roundRect">
            <a:avLst>
              <a:gd name="adj" fmla="val 8000"/>
            </a:avLst>
          </a:prstGeom>
          <a:solidFill>
            <a:srgbClr val="EAF6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64592" tIns="91440" rtlCol="0" anchor="ctr"/>
          <a:lstStyle/>
          <a:p>
            <a:pPr algn="ctr">
              <a:spcAft>
                <a:spcPts val="200"/>
              </a:spcAft>
            </a:pPr>
            <a:r>
              <a:rPr sz="1300" b="1">
                <a:solidFill>
                  <a:srgbClr val="112D4E"/>
                </a:solidFill>
                <a:latin typeface="Calibri"/>
              </a:rPr>
              <a:t>Model input</a:t>
            </a:r>
            <a:endParaRPr sz="1300" b="1">
              <a:solidFill>
                <a:srgbClr val="112D4E"/>
              </a:solidFill>
              <a:latin typeface="Calibri"/>
            </a:endParaRPr>
          </a:p>
          <a:p>
            <a:pPr>
              <a:spcAft>
                <a:spcPts val="200"/>
              </a:spcAft>
            </a:pPr>
            <a:r>
              <a:rPr sz="2200" b="1">
                <a:solidFill>
                  <a:srgbClr val="2E7D4F"/>
                </a:solidFill>
                <a:latin typeface="Calibri"/>
              </a:rPr>
              <a:t>310,755 tokens</a:t>
            </a:r>
            <a:endParaRPr sz="2200" b="1">
              <a:solidFill>
                <a:srgbClr val="2E7D4F"/>
              </a:solidFill>
              <a:latin typeface="Calibri"/>
            </a:endParaRPr>
          </a:p>
          <a:p>
            <a:pPr>
              <a:spcAft>
                <a:spcPts val="200"/>
              </a:spcAft>
            </a:pPr>
            <a:r>
              <a:rPr sz="1100" b="0">
                <a:solidFill>
                  <a:srgbClr val="5A6A7A"/>
                </a:solidFill>
                <a:latin typeface="Calibri"/>
              </a:rPr>
              <a:t>310,752 cache-write · one Sol call</a:t>
            </a:r>
            <a:endParaRPr sz="1100" b="0">
              <a:solidFill>
                <a:srgbClr val="5A6A7A"/>
              </a:solidFill>
              <a:latin typeface="Calibri"/>
            </a:endParaRPr>
          </a:p>
        </p:txBody>
      </p:sp>
      <p:sp>
        <p:nvSpPr>
          <p:cNvPr id="9" name="Rounded Rectangle 8"/>
          <p:cNvSpPr/>
          <p:nvPr/>
        </p:nvSpPr>
        <p:spPr>
          <a:xfrm>
            <a:off x="8092440" y="1645920"/>
            <a:ext cx="3657600" cy="868680"/>
          </a:xfrm>
          <a:prstGeom prst="roundRect">
            <a:avLst>
              <a:gd name="adj" fmla="val 8000"/>
            </a:avLst>
          </a:prstGeom>
          <a:solidFill>
            <a:srgbClr val="FDF3E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64592" tIns="91440" rtlCol="0" anchor="ctr"/>
          <a:lstStyle/>
          <a:p>
            <a:pPr algn="ctr">
              <a:spcAft>
                <a:spcPts val="200"/>
              </a:spcAft>
            </a:pPr>
            <a:r>
              <a:rPr sz="1300" b="1">
                <a:solidFill>
                  <a:srgbClr val="112D4E"/>
                </a:solidFill>
                <a:latin typeface="Calibri"/>
              </a:rPr>
              <a:t>Model output</a:t>
            </a:r>
            <a:endParaRPr sz="1300" b="1">
              <a:solidFill>
                <a:srgbClr val="112D4E"/>
              </a:solidFill>
              <a:latin typeface="Calibri"/>
            </a:endParaRPr>
          </a:p>
          <a:p>
            <a:pPr>
              <a:spcAft>
                <a:spcPts val="200"/>
              </a:spcAft>
            </a:pPr>
            <a:r>
              <a:rPr sz="2200" b="1">
                <a:solidFill>
                  <a:srgbClr val="B47A1E"/>
                </a:solidFill>
                <a:latin typeface="Calibri"/>
              </a:rPr>
              <a:t>12,835 tokens</a:t>
            </a:r>
            <a:endParaRPr sz="2200" b="1">
              <a:solidFill>
                <a:srgbClr val="B47A1E"/>
              </a:solidFill>
              <a:latin typeface="Calibri"/>
            </a:endParaRPr>
          </a:p>
          <a:p>
            <a:pPr>
              <a:spcAft>
                <a:spcPts val="200"/>
              </a:spcAft>
            </a:pPr>
            <a:r>
              <a:rPr sz="1100" b="0">
                <a:solidFill>
                  <a:srgbClr val="5A6A7A"/>
                </a:solidFill>
                <a:latin typeface="Calibri"/>
              </a:rPr>
              <a:t>8,945 reasoning · 15 decisions, 0 rejected</a:t>
            </a:r>
            <a:endParaRPr sz="1100" b="0">
              <a:solidFill>
                <a:srgbClr val="5A6A7A"/>
              </a:solidFill>
              <a:latin typeface="Calibri"/>
            </a:endParaRPr>
          </a:p>
        </p:txBody>
      </p:sp>
      <p:graphicFrame>
        <p:nvGraphicFramePr>
          <p:cNvPr id="10" name="Table 9"/>
          <p:cNvGraphicFramePr>
            <a:graphicFrameLocks noGrp="1"/>
          </p:cNvGraphicFramePr>
          <p:nvPr/>
        </p:nvGraphicFramePr>
        <p:xfrm>
          <a:off x="411480" y="2697480"/>
          <a:ext cx="11384280" cy="301752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2286000"/>
                <a:gridCol w="6720840"/>
                <a:gridCol w="2377440"/>
              </a:tblGrid>
              <a:tr h="301752">
                <a:tc>
                  <a:txBody>
                    <a:bodyPr/>
                    <a:lstStyle/>
                    <a:p>
                      <a:pPr algn="l"/>
                      <a:r>
                        <a:rPr sz="1300" b="1">
                          <a:solidFill>
                            <a:srgbClr val="112D4E"/>
                          </a:solidFill>
                          <a:latin typeface="Calibri"/>
                        </a:rPr>
                        <a:t>Packet component</a:t>
                      </a:r>
                      <a:endParaRPr sz="1300" b="1">
                        <a:solidFill>
                          <a:srgbClr val="112D4E"/>
                        </a:solidFill>
                        <a:latin typeface="Calibri"/>
                      </a:endParaRPr>
                    </a:p>
                  </a:txBody>
                  <a:tcPr marL="73152" marR="54864" marT="25400" marB="254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300" b="1">
                          <a:solidFill>
                            <a:srgbClr val="112D4E"/>
                          </a:solidFill>
                          <a:latin typeface="Calibri"/>
                        </a:rPr>
                        <a:t>What the model sees</a:t>
                      </a:r>
                      <a:endParaRPr sz="1300" b="1">
                        <a:solidFill>
                          <a:srgbClr val="112D4E"/>
                        </a:solidFill>
                        <a:latin typeface="Calibri"/>
                      </a:endParaRPr>
                    </a:p>
                  </a:txBody>
                  <a:tcPr marL="73152" marR="54864" marT="25400" marB="254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300" b="1">
                          <a:solidFill>
                            <a:srgbClr val="112D4E"/>
                          </a:solidFill>
                          <a:latin typeface="Calibri"/>
                        </a:rPr>
                        <a:t>This window</a:t>
                      </a:r>
                      <a:endParaRPr sz="1300" b="1">
                        <a:solidFill>
                          <a:srgbClr val="112D4E"/>
                        </a:solidFill>
                        <a:latin typeface="Calibri"/>
                      </a:endParaRPr>
                    </a:p>
                  </a:txBody>
                  <a:tcPr marL="73152" marR="54864" marT="25400" marB="25400" anchor="ctr">
                    <a:solidFill>
                      <a:srgbClr val="FFFFFF"/>
                    </a:solidFill>
                  </a:tcPr>
                </a:tc>
              </a:tr>
              <a:tr h="301752">
                <a:tc>
                  <a:txBody>
                    <a:bodyPr/>
                    <a:lstStyle/>
                    <a:p>
                      <a:pPr algn="l"/>
                      <a:r>
                        <a:rPr sz="1150" b="1">
                          <a:solidFill>
                            <a:srgbClr val="333333"/>
                          </a:solidFill>
                          <a:latin typeface="Calibri"/>
                        </a:rPr>
                        <a:t>observations</a:t>
                      </a:r>
                      <a:endParaRPr sz="1150" b="1">
                        <a:solidFill>
                          <a:srgbClr val="333333"/>
                        </a:solidFill>
                        <a:latin typeface="Calibri"/>
                      </a:endParaRPr>
                    </a:p>
                  </a:txBody>
                  <a:tcPr marL="73152" marR="54864" marT="25400" marB="254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150" b="0">
                          <a:solidFill>
                            <a:srgbClr val="333333"/>
                          </a:solidFill>
                          <a:latin typeface="Calibri"/>
                        </a:rPr>
                        <a:t>New utterances: clip, interval, raw voice id, labeled transcripts</a:t>
                      </a:r>
                      <a:endParaRPr sz="1150" b="0">
                        <a:solidFill>
                          <a:srgbClr val="333333"/>
                        </a:solidFill>
                        <a:latin typeface="Calibri"/>
                      </a:endParaRPr>
                    </a:p>
                  </a:txBody>
                  <a:tcPr marL="73152" marR="54864" marT="25400" marB="254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150" b="0">
                          <a:solidFill>
                            <a:srgbClr val="333333"/>
                          </a:solidFill>
                          <a:latin typeface="Calibri"/>
                        </a:rPr>
                        <a:t>33</a:t>
                      </a:r>
                      <a:endParaRPr sz="1150" b="0">
                        <a:solidFill>
                          <a:srgbClr val="333333"/>
                        </a:solidFill>
                        <a:latin typeface="Calibri"/>
                      </a:endParaRPr>
                    </a:p>
                  </a:txBody>
                  <a:tcPr marL="73152" marR="54864" marT="25400" marB="25400" anchor="ctr">
                    <a:solidFill>
                      <a:srgbClr val="FFFFFF"/>
                    </a:solidFill>
                  </a:tcPr>
                </a:tc>
              </a:tr>
              <a:tr h="301752">
                <a:tc>
                  <a:txBody>
                    <a:bodyPr/>
                    <a:lstStyle/>
                    <a:p>
                      <a:pPr algn="l"/>
                      <a:r>
                        <a:rPr sz="1150" b="1">
                          <a:solidFill>
                            <a:srgbClr val="333333"/>
                          </a:solidFill>
                          <a:latin typeface="Calibri"/>
                        </a:rPr>
                        <a:t>assignment_evidence</a:t>
                      </a:r>
                      <a:endParaRPr sz="1150" b="1">
                        <a:solidFill>
                          <a:srgbClr val="333333"/>
                        </a:solidFill>
                        <a:latin typeface="Calibri"/>
                      </a:endParaRPr>
                    </a:p>
                  </a:txBody>
                  <a:tcPr marL="73152" marR="54864" marT="25400" marB="25400" anchor="ctr"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150" b="0">
                          <a:solidFill>
                            <a:srgbClr val="333333"/>
                          </a:solidFill>
                          <a:latin typeface="Calibri"/>
                        </a:rPr>
                        <a:t>Pre-mutation TST/CAM++ candidate scores per utterance</a:t>
                      </a:r>
                      <a:endParaRPr sz="1150" b="0">
                        <a:solidFill>
                          <a:srgbClr val="333333"/>
                        </a:solidFill>
                        <a:latin typeface="Calibri"/>
                      </a:endParaRPr>
                    </a:p>
                  </a:txBody>
                  <a:tcPr marL="73152" marR="54864" marT="25400" marB="25400" anchor="ctr"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150" b="0">
                          <a:solidFill>
                            <a:srgbClr val="333333"/>
                          </a:solidFill>
                          <a:latin typeface="Calibri"/>
                        </a:rPr>
                        <a:t>33</a:t>
                      </a:r>
                      <a:endParaRPr sz="1150" b="0">
                        <a:solidFill>
                          <a:srgbClr val="333333"/>
                        </a:solidFill>
                        <a:latin typeface="Calibri"/>
                      </a:endParaRPr>
                    </a:p>
                  </a:txBody>
                  <a:tcPr marL="73152" marR="54864" marT="25400" marB="25400" anchor="ctr">
                    <a:solidFill>
                      <a:srgbClr val="F2F6FA"/>
                    </a:solidFill>
                  </a:tcPr>
                </a:tc>
              </a:tr>
              <a:tr h="301752">
                <a:tc>
                  <a:txBody>
                    <a:bodyPr/>
                    <a:lstStyle/>
                    <a:p>
                      <a:pPr algn="l"/>
                      <a:r>
                        <a:rPr sz="1150" b="1">
                          <a:solidFill>
                            <a:srgbClr val="333333"/>
                          </a:solidFill>
                          <a:latin typeface="Calibri"/>
                        </a:rPr>
                        <a:t>clusters</a:t>
                      </a:r>
                      <a:endParaRPr sz="1150" b="1">
                        <a:solidFill>
                          <a:srgbClr val="333333"/>
                        </a:solidFill>
                        <a:latin typeface="Calibri"/>
                      </a:endParaRPr>
                    </a:p>
                  </a:txBody>
                  <a:tcPr marL="73152" marR="54864" marT="25400" marB="254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150" b="0">
                          <a:solidFill>
                            <a:srgbClr val="333333"/>
                          </a:solidFill>
                          <a:latin typeface="Calibri"/>
                        </a:rPr>
                        <a:t>Voice clusters over new observations; possible_mixed flags</a:t>
                      </a:r>
                      <a:endParaRPr sz="1150" b="0">
                        <a:solidFill>
                          <a:srgbClr val="333333"/>
                        </a:solidFill>
                        <a:latin typeface="Calibri"/>
                      </a:endParaRPr>
                    </a:p>
                  </a:txBody>
                  <a:tcPr marL="73152" marR="54864" marT="25400" marB="254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150" b="0">
                          <a:solidFill>
                            <a:srgbClr val="333333"/>
                          </a:solidFill>
                          <a:latin typeface="Calibri"/>
                        </a:rPr>
                        <a:t>25</a:t>
                      </a:r>
                      <a:endParaRPr sz="1150" b="0">
                        <a:solidFill>
                          <a:srgbClr val="333333"/>
                        </a:solidFill>
                        <a:latin typeface="Calibri"/>
                      </a:endParaRPr>
                    </a:p>
                  </a:txBody>
                  <a:tcPr marL="73152" marR="54864" marT="25400" marB="25400" anchor="ctr">
                    <a:solidFill>
                      <a:srgbClr val="FFFFFF"/>
                    </a:solidFill>
                  </a:tcPr>
                </a:tc>
              </a:tr>
              <a:tr h="301752">
                <a:tc>
                  <a:txBody>
                    <a:bodyPr/>
                    <a:lstStyle/>
                    <a:p>
                      <a:pPr algn="l"/>
                      <a:r>
                        <a:rPr sz="1150" b="1">
                          <a:solidFill>
                            <a:srgbClr val="333333"/>
                          </a:solidFill>
                          <a:latin typeface="Calibri"/>
                        </a:rPr>
                        <a:t>characters</a:t>
                      </a:r>
                      <a:endParaRPr sz="1150" b="1">
                        <a:solidFill>
                          <a:srgbClr val="333333"/>
                        </a:solidFill>
                        <a:latin typeface="Calibri"/>
                      </a:endParaRPr>
                    </a:p>
                  </a:txBody>
                  <a:tcPr marL="73152" marR="54864" marT="25400" marB="25400" anchor="ctr"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150" b="0">
                          <a:solidFill>
                            <a:srgbClr val="333333"/>
                          </a:solidFill>
                          <a:latin typeface="Calibri"/>
                        </a:rPr>
                        <a:t>Current character registry — state, not proof of identity</a:t>
                      </a:r>
                      <a:endParaRPr sz="1150" b="0">
                        <a:solidFill>
                          <a:srgbClr val="333333"/>
                        </a:solidFill>
                        <a:latin typeface="Calibri"/>
                      </a:endParaRPr>
                    </a:p>
                  </a:txBody>
                  <a:tcPr marL="73152" marR="54864" marT="25400" marB="25400" anchor="ctr"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150" b="0">
                          <a:solidFill>
                            <a:srgbClr val="333333"/>
                          </a:solidFill>
                          <a:latin typeface="Calibri"/>
                        </a:rPr>
                        <a:t>person_0…N</a:t>
                      </a:r>
                      <a:endParaRPr sz="1150" b="0">
                        <a:solidFill>
                          <a:srgbClr val="333333"/>
                        </a:solidFill>
                        <a:latin typeface="Calibri"/>
                      </a:endParaRPr>
                    </a:p>
                  </a:txBody>
                  <a:tcPr marL="73152" marR="54864" marT="25400" marB="25400" anchor="ctr">
                    <a:solidFill>
                      <a:srgbClr val="F2F6FA"/>
                    </a:solidFill>
                  </a:tcPr>
                </a:tc>
              </a:tr>
              <a:tr h="301752">
                <a:tc>
                  <a:txBody>
                    <a:bodyPr/>
                    <a:lstStyle/>
                    <a:p>
                      <a:pPr algn="l"/>
                      <a:r>
                        <a:rPr sz="1150" b="1">
                          <a:solidFill>
                            <a:srgbClr val="333333"/>
                          </a:solidFill>
                          <a:latin typeface="Calibri"/>
                        </a:rPr>
                        <a:t>memories</a:t>
                      </a:r>
                      <a:endParaRPr sz="1150" b="1">
                        <a:solidFill>
                          <a:srgbClr val="333333"/>
                        </a:solidFill>
                        <a:latin typeface="Calibri"/>
                      </a:endParaRPr>
                    </a:p>
                  </a:txBody>
                  <a:tcPr marL="73152" marR="54864" marT="25400" marB="254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150" b="0">
                          <a:solidFill>
                            <a:srgbClr val="333333"/>
                          </a:solidFill>
                          <a:latin typeface="Calibri"/>
                        </a:rPr>
                        <a:t>Episodic + semantic claims with evidence ids; retired claims not citable</a:t>
                      </a:r>
                      <a:endParaRPr sz="1150" b="0">
                        <a:solidFill>
                          <a:srgbClr val="333333"/>
                        </a:solidFill>
                        <a:latin typeface="Calibri"/>
                      </a:endParaRPr>
                    </a:p>
                  </a:txBody>
                  <a:tcPr marL="73152" marR="54864" marT="25400" marB="254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150" b="0">
                          <a:solidFill>
                            <a:srgbClr val="333333"/>
                          </a:solidFill>
                          <a:latin typeface="Calibri"/>
                        </a:rPr>
                        <a:t>798</a:t>
                      </a:r>
                      <a:endParaRPr sz="1150" b="0">
                        <a:solidFill>
                          <a:srgbClr val="333333"/>
                        </a:solidFill>
                        <a:latin typeface="Calibri"/>
                      </a:endParaRPr>
                    </a:p>
                  </a:txBody>
                  <a:tcPr marL="73152" marR="54864" marT="25400" marB="25400" anchor="ctr">
                    <a:solidFill>
                      <a:srgbClr val="FFFFFF"/>
                    </a:solidFill>
                  </a:tcPr>
                </a:tc>
              </a:tr>
              <a:tr h="301752">
                <a:tc>
                  <a:txBody>
                    <a:bodyPr/>
                    <a:lstStyle/>
                    <a:p>
                      <a:pPr algn="l"/>
                      <a:r>
                        <a:rPr sz="1150" b="1">
                          <a:solidFill>
                            <a:srgbClr val="333333"/>
                          </a:solidFill>
                          <a:latin typeface="Calibri"/>
                        </a:rPr>
                        <a:t>moss</a:t>
                      </a:r>
                      <a:endParaRPr sz="1150" b="1">
                        <a:solidFill>
                          <a:srgbClr val="333333"/>
                        </a:solidFill>
                        <a:latin typeface="Calibri"/>
                      </a:endParaRPr>
                    </a:p>
                  </a:txBody>
                  <a:tcPr marL="73152" marR="54864" marT="25400" marB="25400" anchor="ctr"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150" b="0">
                          <a:solidFill>
                            <a:srgbClr val="333333"/>
                          </a:solidFill>
                          <a:latin typeface="Calibri"/>
                        </a:rPr>
                        <a:t>Run-scoped diarization segments + alignments covering exactly the window</a:t>
                      </a:r>
                      <a:endParaRPr sz="1150" b="0">
                        <a:solidFill>
                          <a:srgbClr val="333333"/>
                        </a:solidFill>
                        <a:latin typeface="Calibri"/>
                      </a:endParaRPr>
                    </a:p>
                  </a:txBody>
                  <a:tcPr marL="73152" marR="54864" marT="25400" marB="25400" anchor="ctr"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150" b="0">
                          <a:solidFill>
                            <a:srgbClr val="333333"/>
                          </a:solidFill>
                          <a:latin typeface="Calibri"/>
                        </a:rPr>
                        <a:t>275 segs · S01–S04</a:t>
                      </a:r>
                      <a:endParaRPr sz="1150" b="0">
                        <a:solidFill>
                          <a:srgbClr val="333333"/>
                        </a:solidFill>
                        <a:latin typeface="Calibri"/>
                      </a:endParaRPr>
                    </a:p>
                  </a:txBody>
                  <a:tcPr marL="73152" marR="54864" marT="25400" marB="25400" anchor="ctr">
                    <a:solidFill>
                      <a:srgbClr val="F2F6FA"/>
                    </a:solidFill>
                  </a:tcPr>
                </a:tc>
              </a:tr>
              <a:tr h="301752">
                <a:tc>
                  <a:txBody>
                    <a:bodyPr/>
                    <a:lstStyle/>
                    <a:p>
                      <a:pPr algn="l"/>
                      <a:r>
                        <a:rPr sz="1150" b="1">
                          <a:solidFill>
                            <a:srgbClr val="333333"/>
                          </a:solidFill>
                          <a:latin typeface="Calibri"/>
                        </a:rPr>
                        <a:t>source_gaps / cutoffs</a:t>
                      </a:r>
                      <a:endParaRPr sz="1150" b="1">
                        <a:solidFill>
                          <a:srgbClr val="333333"/>
                        </a:solidFill>
                        <a:latin typeface="Calibri"/>
                      </a:endParaRPr>
                    </a:p>
                  </a:txBody>
                  <a:tcPr marL="73152" marR="54864" marT="25400" marB="254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150" b="0">
                          <a:solidFill>
                            <a:srgbClr val="333333"/>
                          </a:solidFill>
                          <a:latin typeface="Calibri"/>
                        </a:rPr>
                        <a:t>Declared media gaps; session id, base graph version, exact cutoffs</a:t>
                      </a:r>
                      <a:endParaRPr sz="1150" b="0">
                        <a:solidFill>
                          <a:srgbClr val="333333"/>
                        </a:solidFill>
                        <a:latin typeface="Calibri"/>
                      </a:endParaRPr>
                    </a:p>
                  </a:txBody>
                  <a:tcPr marL="73152" marR="54864" marT="25400" marB="254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150" b="0">
                          <a:solidFill>
                            <a:srgbClr val="333333"/>
                          </a:solidFill>
                          <a:latin typeface="Calibri"/>
                        </a:rPr>
                        <a:t>cutoff 1,187.92 s</a:t>
                      </a:r>
                      <a:endParaRPr sz="1150" b="0">
                        <a:solidFill>
                          <a:srgbClr val="333333"/>
                        </a:solidFill>
                        <a:latin typeface="Calibri"/>
                      </a:endParaRPr>
                    </a:p>
                  </a:txBody>
                  <a:tcPr marL="73152" marR="54864" marT="25400" marB="25400" anchor="ctr">
                    <a:solidFill>
                      <a:srgbClr val="FFFFFF"/>
                    </a:solidFill>
                  </a:tcPr>
                </a:tc>
              </a:tr>
              <a:tr h="301752">
                <a:tc>
                  <a:txBody>
                    <a:bodyPr/>
                    <a:lstStyle/>
                    <a:p>
                      <a:pPr algn="l"/>
                      <a:r>
                        <a:rPr sz="1150" b="1">
                          <a:solidFill>
                            <a:srgbClr val="333333"/>
                          </a:solidFill>
                          <a:latin typeface="Calibri"/>
                        </a:rPr>
                        <a:t>references / cannot_link</a:t>
                      </a:r>
                      <a:endParaRPr sz="1150" b="1">
                        <a:solidFill>
                          <a:srgbClr val="333333"/>
                        </a:solidFill>
                        <a:latin typeface="Calibri"/>
                      </a:endParaRPr>
                    </a:p>
                  </a:txBody>
                  <a:tcPr marL="73152" marR="54864" marT="25400" marB="25400" anchor="ctr"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150" b="0">
                          <a:solidFill>
                            <a:srgbClr val="333333"/>
                          </a:solidFill>
                          <a:latin typeface="Calibri"/>
                        </a:rPr>
                        <a:t>Existing reference resolutions; hard-negative constraints always apply</a:t>
                      </a:r>
                      <a:endParaRPr sz="1150" b="0">
                        <a:solidFill>
                          <a:srgbClr val="333333"/>
                        </a:solidFill>
                        <a:latin typeface="Calibri"/>
                      </a:endParaRPr>
                    </a:p>
                  </a:txBody>
                  <a:tcPr marL="73152" marR="54864" marT="25400" marB="25400" anchor="ctr"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150" b="0">
                          <a:solidFill>
                            <a:srgbClr val="333333"/>
                          </a:solidFill>
                          <a:latin typeface="Calibri"/>
                        </a:rPr>
                        <a:t>versioned</a:t>
                      </a:r>
                      <a:endParaRPr sz="1150" b="0">
                        <a:solidFill>
                          <a:srgbClr val="333333"/>
                        </a:solidFill>
                        <a:latin typeface="Calibri"/>
                      </a:endParaRPr>
                    </a:p>
                  </a:txBody>
                  <a:tcPr marL="73152" marR="54864" marT="25400" marB="25400" anchor="ctr">
                    <a:solidFill>
                      <a:srgbClr val="F2F6FA"/>
                    </a:solidFill>
                  </a:tcPr>
                </a:tc>
              </a:tr>
              <a:tr h="301752">
                <a:tc>
                  <a:txBody>
                    <a:bodyPr/>
                    <a:lstStyle/>
                    <a:p>
                      <a:pPr algn="l"/>
                      <a:r>
                        <a:rPr sz="1150" b="1">
                          <a:solidFill>
                            <a:srgbClr val="333333"/>
                          </a:solidFill>
                          <a:latin typeface="Calibri"/>
                        </a:rPr>
                        <a:t>patch schema</a:t>
                      </a:r>
                      <a:endParaRPr sz="1150" b="1">
                        <a:solidFill>
                          <a:srgbClr val="333333"/>
                        </a:solidFill>
                        <a:latin typeface="Calibri"/>
                      </a:endParaRPr>
                    </a:p>
                  </a:txBody>
                  <a:tcPr marL="73152" marR="54864" marT="25400" marB="254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150" b="0">
                          <a:solidFill>
                            <a:srgbClr val="333333"/>
                          </a:solidFill>
                          <a:latin typeface="Calibri"/>
                        </a:rPr>
                        <a:t>Allowed ops: assign_cluster · reassign_utterances · set_name · revise_claim · resolve_reference</a:t>
                      </a:r>
                      <a:endParaRPr sz="1150" b="0">
                        <a:solidFill>
                          <a:srgbClr val="333333"/>
                        </a:solidFill>
                        <a:latin typeface="Calibri"/>
                      </a:endParaRPr>
                    </a:p>
                  </a:txBody>
                  <a:tcPr marL="73152" marR="54864" marT="25400" marB="254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150" b="0">
                          <a:solidFill>
                            <a:srgbClr val="333333"/>
                          </a:solidFill>
                          <a:latin typeface="Calibri"/>
                        </a:rPr>
                        <a:t>fail-closed</a:t>
                      </a:r>
                      <a:endParaRPr sz="1150" b="0">
                        <a:solidFill>
                          <a:srgbClr val="333333"/>
                        </a:solidFill>
                        <a:latin typeface="Calibri"/>
                      </a:endParaRPr>
                    </a:p>
                  </a:txBody>
                  <a:tcPr marL="73152" marR="54864" marT="25400" marB="25400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1" name="TextBox 10"/>
          <p:cNvSpPr txBox="1"/>
          <p:nvPr/>
        </p:nvSpPr>
        <p:spPr>
          <a:xfrm>
            <a:off x="411480" y="5943600"/>
            <a:ext cx="113385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200" b="0">
                <a:solidFill>
                  <a:srgbClr val="5A6A7A"/>
                </a:solidFill>
                <a:latin typeface="Calibri"/>
              </a:rPr>
              <a:t>Recall-oriented: assign most observations, defer only on genuine competing evidence; every decision carries confidence, rationale, and citable evidence ids.</a:t>
            </a:r>
            <a:endParaRPr sz="1200" b="0">
              <a:solidFill>
                <a:srgbClr val="5A6A7A"/>
              </a:solidFill>
              <a:latin typeface="Calibri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1643055" y="6537960"/>
            <a:ext cx="4572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>
                <a:solidFill>
                  <a:srgbClr val="5A6A7A"/>
                </a:solidFill>
                <a:latin typeface="Calibri"/>
              </a:rPr>
              <a:t>4</a:t>
            </a:r>
            <a:endParaRPr sz="1000">
              <a:solidFill>
                <a:srgbClr val="5A6A7A"/>
              </a:solidFill>
              <a:latin typeface="Calibri"/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411480" y="201168"/>
            <a:ext cx="98755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3000" b="1">
                <a:solidFill>
                  <a:srgbClr val="112D4E"/>
                </a:solidFill>
                <a:latin typeface="Calibri"/>
              </a:rPr>
              <a:t>Consolidation — coordination with the live VideoGraph</a:t>
            </a:r>
            <a:endParaRPr sz="3000" b="1">
              <a:solidFill>
                <a:srgbClr val="112D4E"/>
              </a:solidFill>
              <a:latin typeface="Calibri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9814255" y="320040"/>
            <a:ext cx="20116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lnSpc>
                <a:spcPct val="100000"/>
              </a:lnSpc>
              <a:spcAft>
                <a:spcPts val="400"/>
              </a:spcAft>
            </a:pPr>
            <a:r>
              <a:rPr sz="1300" b="1">
                <a:solidFill>
                  <a:srgbClr val="2E6DA4"/>
                </a:solidFill>
                <a:latin typeface="Calibri"/>
              </a:rPr>
              <a:t>CONSOLIDATION</a:t>
            </a:r>
            <a:endParaRPr sz="1300" b="1">
              <a:solidFill>
                <a:srgbClr val="2E6DA4"/>
              </a:solidFill>
              <a:latin typeface="Calibri"/>
            </a:endParaRPr>
          </a:p>
        </p:txBody>
      </p:sp>
      <p:sp>
        <p:nvSpPr>
          <p:cNvPr id="5" name="Rectangle 4"/>
          <p:cNvSpPr/>
          <p:nvPr/>
        </p:nvSpPr>
        <p:spPr>
          <a:xfrm>
            <a:off x="411480" y="896112"/>
            <a:ext cx="11368735" cy="475488"/>
          </a:xfrm>
          <a:prstGeom prst="rect">
            <a:avLst/>
          </a:prstGeom>
          <a:noFill/>
          <a:ln w="12700">
            <a:solidFill>
              <a:srgbClr val="C9D4D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9728" tIns="54864" bIns="36576" rtlCol="0" anchor="ctr"/>
          <a:lstStyle/>
          <a:p>
            <a:pPr algn="ctr"/>
            <a:r>
              <a:rPr sz="1350">
                <a:solidFill>
                  <a:srgbClr val="5A6A7A"/>
                </a:solidFill>
                <a:latin typeface="Calibri"/>
              </a:rPr>
              <a:t>The runtime wraps the existing M3 writer; it never replaces the live graph with a historical snapshot.</a:t>
            </a:r>
            <a:endParaRPr sz="1350">
              <a:solidFill>
                <a:srgbClr val="5A6A7A"/>
              </a:solidFill>
              <a:latin typeface="Calibri"/>
            </a:endParaRPr>
          </a:p>
        </p:txBody>
      </p:sp>
      <p:sp>
        <p:nvSpPr>
          <p:cNvPr id="6" name="Rectangle 5"/>
          <p:cNvSpPr/>
          <p:nvPr/>
        </p:nvSpPr>
        <p:spPr>
          <a:xfrm>
            <a:off x="411480" y="1481328"/>
            <a:ext cx="11368735" cy="19050"/>
          </a:xfrm>
          <a:prstGeom prst="rect">
            <a:avLst/>
          </a:prstGeom>
          <a:solidFill>
            <a:srgbClr val="C9D4D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411480" y="1783080"/>
            <a:ext cx="3703320" cy="1417320"/>
          </a:xfrm>
          <a:prstGeom prst="roundRect">
            <a:avLst>
              <a:gd name="adj" fmla="val 6000"/>
            </a:avLst>
          </a:prstGeom>
          <a:solidFill>
            <a:srgbClr val="F4F7FA"/>
          </a:solidFill>
          <a:ln w="9525">
            <a:solidFill>
              <a:srgbClr val="C9D4D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28016" tIns="73152" rtlCol="0" anchor="ctr"/>
          <a:lstStyle/>
          <a:p>
            <a:pPr algn="ctr"/>
            <a:r>
              <a:rPr sz="1400" b="1">
                <a:solidFill>
                  <a:srgbClr val="112D4E"/>
                </a:solidFill>
                <a:latin typeface="Calibri"/>
              </a:rPr>
              <a:t>1 · Attach</a:t>
            </a:r>
            <a:endParaRPr sz="1400" b="1">
              <a:solidFill>
                <a:srgbClr val="112D4E"/>
              </a:solidFill>
              <a:latin typeface="Calibri"/>
            </a:endParaRPr>
          </a:p>
          <a:p>
            <a:pPr>
              <a:lnSpc>
                <a:spcPct val="102000"/>
              </a:lnSpc>
            </a:pPr>
            <a:r>
              <a:rPr sz="1100">
                <a:solidFill>
                  <a:srgbClr val="404040"/>
                </a:solidFill>
                <a:latin typeface="Calibri"/>
              </a:rPr>
              <a:t>ConsolidationRuntime attaches to the live VideoGraph; normal voice/face/episodic/semantic construction continues inside process_segment.</a:t>
            </a:r>
            <a:endParaRPr sz="1100">
              <a:solidFill>
                <a:srgbClr val="404040"/>
              </a:solidFill>
              <a:latin typeface="Calibri"/>
            </a:endParaRPr>
          </a:p>
        </p:txBody>
      </p:sp>
      <p:sp>
        <p:nvSpPr>
          <p:cNvPr id="8" name="Rounded Rectangle 7"/>
          <p:cNvSpPr/>
          <p:nvPr/>
        </p:nvSpPr>
        <p:spPr>
          <a:xfrm>
            <a:off x="4325112" y="1783080"/>
            <a:ext cx="3703320" cy="1417320"/>
          </a:xfrm>
          <a:prstGeom prst="roundRect">
            <a:avLst>
              <a:gd name="adj" fmla="val 6000"/>
            </a:avLst>
          </a:prstGeom>
          <a:solidFill>
            <a:srgbClr val="F4F7FA"/>
          </a:solidFill>
          <a:ln w="9525">
            <a:solidFill>
              <a:srgbClr val="C9D4D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28016" tIns="73152" rtlCol="0" anchor="ctr"/>
          <a:lstStyle/>
          <a:p>
            <a:pPr algn="ctr"/>
            <a:r>
              <a:rPr sz="1400" b="1">
                <a:solidFill>
                  <a:srgbClr val="112D4E"/>
                </a:solidFill>
                <a:latin typeface="Calibri"/>
              </a:rPr>
              <a:t>2 · Freeze</a:t>
            </a:r>
            <a:endParaRPr sz="1400" b="1">
              <a:solidFill>
                <a:srgbClr val="112D4E"/>
              </a:solidFill>
              <a:latin typeface="Calibri"/>
            </a:endParaRPr>
          </a:p>
          <a:p>
            <a:pPr>
              <a:lnSpc>
                <a:spcPct val="102000"/>
              </a:lnSpc>
            </a:pPr>
            <a:r>
              <a:rPr sz="1100">
                <a:solidFill>
                  <a:srgbClr val="404040"/>
                </a:solidFill>
                <a:latin typeface="Calibri"/>
              </a:rPr>
              <a:t>At each 1,200 s clip boundary the graph is deep-copied with construction revision + cutoff. The snapshot can never acquire later observations.</a:t>
            </a:r>
            <a:endParaRPr sz="1100">
              <a:solidFill>
                <a:srgbClr val="404040"/>
              </a:solidFill>
              <a:latin typeface="Calibri"/>
            </a:endParaRPr>
          </a:p>
        </p:txBody>
      </p:sp>
      <p:sp>
        <p:nvSpPr>
          <p:cNvPr id="9" name="Rounded Rectangle 8"/>
          <p:cNvSpPr/>
          <p:nvPr/>
        </p:nvSpPr>
        <p:spPr>
          <a:xfrm>
            <a:off x="8238744" y="1783080"/>
            <a:ext cx="3703320" cy="1417320"/>
          </a:xfrm>
          <a:prstGeom prst="roundRect">
            <a:avLst>
              <a:gd name="adj" fmla="val 6000"/>
            </a:avLst>
          </a:prstGeom>
          <a:solidFill>
            <a:srgbClr val="F4F7FA"/>
          </a:solidFill>
          <a:ln w="9525">
            <a:solidFill>
              <a:srgbClr val="C9D4D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28016" tIns="73152" rtlCol="0" anchor="ctr"/>
          <a:lstStyle/>
          <a:p>
            <a:pPr algn="ctr"/>
            <a:r>
              <a:rPr sz="1400" b="1">
                <a:solidFill>
                  <a:srgbClr val="112D4E"/>
                </a:solidFill>
                <a:latin typeface="Calibri"/>
              </a:rPr>
              <a:t>3 · Reason</a:t>
            </a:r>
            <a:endParaRPr sz="1400" b="1">
              <a:solidFill>
                <a:srgbClr val="112D4E"/>
              </a:solidFill>
              <a:latin typeface="Calibri"/>
            </a:endParaRPr>
          </a:p>
          <a:p>
            <a:pPr>
              <a:lnSpc>
                <a:spcPct val="102000"/>
              </a:lnSpc>
            </a:pPr>
            <a:r>
              <a:rPr sz="1100">
                <a:solidFill>
                  <a:srgbClr val="404040"/>
                </a:solidFill>
                <a:latin typeface="Calibri"/>
              </a:rPr>
              <a:t>Worker runs the MOSS window stage over exactly [previous cutoff, snapshot cutoff], builds the evidence packet, calls Sol/Astra once. MOSS failure leaves the window retryable.</a:t>
            </a:r>
            <a:endParaRPr sz="1100">
              <a:solidFill>
                <a:srgbClr val="404040"/>
              </a:solidFill>
              <a:latin typeface="Calibri"/>
            </a:endParaRPr>
          </a:p>
        </p:txBody>
      </p:sp>
      <p:sp>
        <p:nvSpPr>
          <p:cNvPr id="10" name="Rounded Rectangle 9"/>
          <p:cNvSpPr/>
          <p:nvPr/>
        </p:nvSpPr>
        <p:spPr>
          <a:xfrm>
            <a:off x="411480" y="3355848"/>
            <a:ext cx="3703320" cy="1417320"/>
          </a:xfrm>
          <a:prstGeom prst="roundRect">
            <a:avLst>
              <a:gd name="adj" fmla="val 6000"/>
            </a:avLst>
          </a:prstGeom>
          <a:solidFill>
            <a:srgbClr val="F4F7FA"/>
          </a:solidFill>
          <a:ln w="9525">
            <a:solidFill>
              <a:srgbClr val="C9D4D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28016" tIns="73152" rtlCol="0" anchor="ctr"/>
          <a:lstStyle/>
          <a:p>
            <a:pPr algn="ctr"/>
            <a:r>
              <a:rPr sz="1400" b="1">
                <a:solidFill>
                  <a:srgbClr val="112D4E"/>
                </a:solidFill>
                <a:latin typeface="Calibri"/>
              </a:rPr>
              <a:t>4 · Reconcile</a:t>
            </a:r>
            <a:endParaRPr sz="1400" b="1">
              <a:solidFill>
                <a:srgbClr val="112D4E"/>
              </a:solidFill>
              <a:latin typeface="Calibri"/>
            </a:endParaRPr>
          </a:p>
          <a:p>
            <a:pPr>
              <a:lnSpc>
                <a:spcPct val="102000"/>
              </a:lnSpc>
            </a:pPr>
            <a:r>
              <a:rPr sz="1100">
                <a:solidFill>
                  <a:srgbClr val="404040"/>
                </a:solidFill>
                <a:latin typeface="Calibri"/>
              </a:rPr>
              <a:t>Patch application validates cutoffs and identity bases, then reconciles against current native state — concurrently allocated character ids are retained and remapped.</a:t>
            </a:r>
            <a:endParaRPr sz="1100">
              <a:solidFill>
                <a:srgbClr val="404040"/>
              </a:solidFill>
              <a:latin typeface="Calibri"/>
            </a:endParaRPr>
          </a:p>
        </p:txBody>
      </p:sp>
      <p:sp>
        <p:nvSpPr>
          <p:cNvPr id="11" name="Rounded Rectangle 10"/>
          <p:cNvSpPr/>
          <p:nvPr/>
        </p:nvSpPr>
        <p:spPr>
          <a:xfrm>
            <a:off x="4325112" y="3355848"/>
            <a:ext cx="3703320" cy="1417320"/>
          </a:xfrm>
          <a:prstGeom prst="roundRect">
            <a:avLst>
              <a:gd name="adj" fmla="val 6000"/>
            </a:avLst>
          </a:prstGeom>
          <a:solidFill>
            <a:srgbClr val="F4F7FA"/>
          </a:solidFill>
          <a:ln w="9525">
            <a:solidFill>
              <a:srgbClr val="C9D4D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28016" tIns="73152" rtlCol="0" anchor="ctr"/>
          <a:lstStyle/>
          <a:p>
            <a:pPr algn="ctr"/>
            <a:r>
              <a:rPr sz="1400" b="1">
                <a:solidFill>
                  <a:srgbClr val="112D4E"/>
                </a:solidFill>
                <a:latin typeface="Calibri"/>
              </a:rPr>
              <a:t>5 · Reindex</a:t>
            </a:r>
            <a:endParaRPr sz="1400" b="1">
              <a:solidFill>
                <a:srgbClr val="112D4E"/>
              </a:solidFill>
              <a:latin typeface="Calibri"/>
            </a:endParaRPr>
          </a:p>
          <a:p>
            <a:pPr>
              <a:lnSpc>
                <a:spcPct val="102000"/>
              </a:lnSpc>
            </a:pPr>
            <a:r>
              <a:rPr sz="1100">
                <a:solidFill>
                  <a:srgbClr val="404040"/>
                </a:solidFill>
                <a:latin typeface="Calibri"/>
              </a:rPr>
              <a:t>Changed canonical text is marked embedding_stale; selective re-embedding installs only if the live identity revision still matches. Old vectors stay searchable meanwhile.</a:t>
            </a:r>
            <a:endParaRPr sz="1100">
              <a:solidFill>
                <a:srgbClr val="404040"/>
              </a:solidFill>
              <a:latin typeface="Calibri"/>
            </a:endParaRPr>
          </a:p>
        </p:txBody>
      </p:sp>
      <p:sp>
        <p:nvSpPr>
          <p:cNvPr id="12" name="Rounded Rectangle 11"/>
          <p:cNvSpPr/>
          <p:nvPr/>
        </p:nvSpPr>
        <p:spPr>
          <a:xfrm>
            <a:off x="8238744" y="3355848"/>
            <a:ext cx="3703320" cy="1417320"/>
          </a:xfrm>
          <a:prstGeom prst="roundRect">
            <a:avLst>
              <a:gd name="adj" fmla="val 6000"/>
            </a:avLst>
          </a:prstGeom>
          <a:solidFill>
            <a:srgbClr val="F4F7FA"/>
          </a:solidFill>
          <a:ln w="9525">
            <a:solidFill>
              <a:srgbClr val="C9D4D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28016" tIns="73152" rtlCol="0" anchor="ctr"/>
          <a:lstStyle/>
          <a:p>
            <a:pPr algn="ctr"/>
            <a:r>
              <a:rPr sz="1400" b="1">
                <a:solidFill>
                  <a:srgbClr val="112D4E"/>
                </a:solidFill>
                <a:latin typeface="Calibri"/>
              </a:rPr>
              <a:t>6 · Publish</a:t>
            </a:r>
            <a:endParaRPr sz="1400" b="1">
              <a:solidFill>
                <a:srgbClr val="112D4E"/>
              </a:solidFill>
              <a:latin typeface="Calibri"/>
            </a:endParaRPr>
          </a:p>
          <a:p>
            <a:pPr>
              <a:lnSpc>
                <a:spcPct val="102000"/>
              </a:lnSpc>
            </a:pPr>
            <a:r>
              <a:rPr sz="1100">
                <a:solidFill>
                  <a:srgbClr val="404040"/>
                </a:solidFill>
                <a:latin typeface="Calibri"/>
              </a:rPr>
              <a:t>Mandol dense/BM25/SPLADE bundle rebuilds; CURRENT.json advances atomically only after all checks pass. Any failure keeps the previous published version.</a:t>
            </a:r>
            <a:endParaRPr sz="1100">
              <a:solidFill>
                <a:srgbClr val="404040"/>
              </a:solidFill>
              <a:latin typeface="Calibri"/>
            </a:endParaRPr>
          </a:p>
        </p:txBody>
      </p:sp>
      <p:sp>
        <p:nvSpPr>
          <p:cNvPr id="13" name="TextBox 12"/>
          <p:cNvSpPr txBox="1"/>
          <p:nvPr/>
        </p:nvSpPr>
        <p:spPr>
          <a:xfrm>
            <a:off x="411480" y="5074920"/>
            <a:ext cx="1133856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04000"/>
              </a:lnSpc>
              <a:spcAft>
                <a:spcPts val="600"/>
              </a:spcAft>
            </a:pPr>
            <a:r>
              <a:rPr sz="1250" b="1">
                <a:solidFill>
                  <a:srgbClr val="333333"/>
                </a:solidFill>
                <a:latin typeface="Calibri"/>
              </a:rPr>
              <a:t>•  Ordering guarantee:</a:t>
            </a:r>
            <a:r>
              <a:rPr sz="1250" b="0">
                <a:solidFill>
                  <a:srgbClr val="333333"/>
                </a:solidFill>
                <a:latin typeface="Calibri"/>
              </a:rPr>
              <a:t> all C1–C4 observations commit before maintenance; consolidation and native reindexing finish before compression, hourly persistence, and same-time QA.</a:t>
            </a:r>
            <a:endParaRPr sz="1250" b="0">
              <a:solidFill>
                <a:srgbClr val="333333"/>
              </a:solidFill>
              <a:latin typeface="Calibri"/>
            </a:endParaRPr>
          </a:p>
          <a:p>
            <a:pPr>
              <a:lnSpc>
                <a:spcPct val="104000"/>
              </a:lnSpc>
              <a:spcAft>
                <a:spcPts val="600"/>
              </a:spcAft>
            </a:pPr>
            <a:r>
              <a:rPr sz="1250" b="1">
                <a:solidFill>
                  <a:srgbClr val="333333"/>
                </a:solidFill>
                <a:latin typeface="Calibri"/>
              </a:rPr>
              <a:t>•  Fail-closed:</a:t>
            </a:r>
            <a:r>
              <a:rPr sz="1250" b="0">
                <a:solidFill>
                  <a:srgbClr val="333333"/>
                </a:solidFill>
                <a:latin typeface="Calibri"/>
              </a:rPr>
              <a:t> failed consolidation stops execution; no completed graph is filtered backwards to approximate an earlier query.</a:t>
            </a:r>
            <a:endParaRPr sz="1250" b="0">
              <a:solidFill>
                <a:srgbClr val="333333"/>
              </a:solidFill>
              <a:latin typeface="Calibri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1643055" y="6537960"/>
            <a:ext cx="4572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>
                <a:solidFill>
                  <a:srgbClr val="5A6A7A"/>
                </a:solidFill>
                <a:latin typeface="Calibri"/>
              </a:rPr>
              <a:t>5</a:t>
            </a:r>
            <a:endParaRPr sz="1000">
              <a:solidFill>
                <a:srgbClr val="5A6A7A"/>
              </a:solidFill>
              <a:latin typeface="Calibri"/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411480" y="201168"/>
            <a:ext cx="98755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3000" b="1">
                <a:solidFill>
                  <a:srgbClr val="112D4E"/>
                </a:solidFill>
                <a:latin typeface="Calibri"/>
              </a:rPr>
              <a:t>Benchmark setup — online construction and one-shot evaluation</a:t>
            </a:r>
            <a:endParaRPr sz="3000" b="1">
              <a:solidFill>
                <a:srgbClr val="112D4E"/>
              </a:solidFill>
              <a:latin typeface="Calibri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9814255" y="320040"/>
            <a:ext cx="20116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lnSpc>
                <a:spcPct val="100000"/>
              </a:lnSpc>
              <a:spcAft>
                <a:spcPts val="400"/>
              </a:spcAft>
            </a:pPr>
            <a:r>
              <a:rPr sz="1300" b="1">
                <a:solidFill>
                  <a:srgbClr val="2E6DA4"/>
                </a:solidFill>
                <a:latin typeface="Calibri"/>
              </a:rPr>
              <a:t>METHODS</a:t>
            </a:r>
            <a:endParaRPr sz="1300" b="1">
              <a:solidFill>
                <a:srgbClr val="2E6DA4"/>
              </a:solidFill>
              <a:latin typeface="Calibri"/>
            </a:endParaRPr>
          </a:p>
        </p:txBody>
      </p:sp>
      <p:sp>
        <p:nvSpPr>
          <p:cNvPr id="5" name="Rectangle 4"/>
          <p:cNvSpPr/>
          <p:nvPr/>
        </p:nvSpPr>
        <p:spPr>
          <a:xfrm>
            <a:off x="411480" y="896112"/>
            <a:ext cx="11368735" cy="475488"/>
          </a:xfrm>
          <a:prstGeom prst="rect">
            <a:avLst/>
          </a:prstGeom>
          <a:noFill/>
          <a:ln w="12700">
            <a:solidFill>
              <a:srgbClr val="C9D4D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9728" tIns="54864" bIns="36576" rtlCol="0" anchor="ctr"/>
          <a:lstStyle/>
          <a:p>
            <a:pPr algn="ctr"/>
            <a:r>
              <a:rPr sz="1350">
                <a:solidFill>
                  <a:srgbClr val="5A6A7A"/>
                </a:solidFill>
                <a:latin typeface="Calibri"/>
              </a:rPr>
              <a:t>Four construction variants over identical event streams; two retrieval paths evaluated per question at immutable graph snapshots.</a:t>
            </a:r>
            <a:endParaRPr sz="1350">
              <a:solidFill>
                <a:srgbClr val="5A6A7A"/>
              </a:solidFill>
              <a:latin typeface="Calibri"/>
            </a:endParaRPr>
          </a:p>
        </p:txBody>
      </p:sp>
      <p:sp>
        <p:nvSpPr>
          <p:cNvPr id="6" name="Rectangle 5"/>
          <p:cNvSpPr/>
          <p:nvPr/>
        </p:nvSpPr>
        <p:spPr>
          <a:xfrm>
            <a:off x="411480" y="1481328"/>
            <a:ext cx="11368735" cy="19050"/>
          </a:xfrm>
          <a:prstGeom prst="rect">
            <a:avLst/>
          </a:prstGeom>
          <a:solidFill>
            <a:srgbClr val="C9D4D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411480" y="1691640"/>
          <a:ext cx="11384280" cy="182880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2468880"/>
                <a:gridCol w="2468880"/>
                <a:gridCol w="1783080"/>
                <a:gridCol w="1234440"/>
                <a:gridCol w="1188720"/>
                <a:gridCol w="1005840"/>
                <a:gridCol w="1234440"/>
              </a:tblGrid>
              <a:tr h="365760">
                <a:tc>
                  <a:txBody>
                    <a:bodyPr/>
                    <a:lstStyle/>
                    <a:p>
                      <a:pPr algn="l"/>
                      <a:r>
                        <a:rPr sz="1300" b="1">
                          <a:solidFill>
                            <a:srgbClr val="112D4E"/>
                          </a:solidFill>
                          <a:latin typeface="Calibri"/>
                        </a:rPr>
                        <a:t>Config</a:t>
                      </a:r>
                      <a:endParaRPr sz="1300" b="1">
                        <a:solidFill>
                          <a:srgbClr val="112D4E"/>
                        </a:solidFill>
                        <a:latin typeface="Calibri"/>
                      </a:endParaRPr>
                    </a:p>
                  </a:txBody>
                  <a:tcPr marL="73152" marR="54864" marT="25400" marB="254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300" b="1">
                          <a:solidFill>
                            <a:srgbClr val="112D4E"/>
                          </a:solidFill>
                          <a:latin typeface="Calibri"/>
                        </a:rPr>
                        <a:t>Speaker frontend</a:t>
                      </a:r>
                      <a:endParaRPr sz="1300" b="1">
                        <a:solidFill>
                          <a:srgbClr val="112D4E"/>
                        </a:solidFill>
                        <a:latin typeface="Calibri"/>
                      </a:endParaRPr>
                    </a:p>
                  </a:txBody>
                  <a:tcPr marL="73152" marR="54864" marT="25400" marB="254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300" b="1">
                          <a:solidFill>
                            <a:srgbClr val="112D4E"/>
                          </a:solidFill>
                          <a:latin typeface="Calibri"/>
                        </a:rPr>
                        <a:t>Consolidation</a:t>
                      </a:r>
                      <a:endParaRPr sz="1300" b="1">
                        <a:solidFill>
                          <a:srgbClr val="112D4E"/>
                        </a:solidFill>
                        <a:latin typeface="Calibri"/>
                      </a:endParaRPr>
                    </a:p>
                  </a:txBody>
                  <a:tcPr marL="73152" marR="54864" marT="25400" marB="254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300" b="1">
                          <a:solidFill>
                            <a:srgbClr val="112D4E"/>
                          </a:solidFill>
                          <a:latin typeface="Calibri"/>
                        </a:rPr>
                        <a:t>Retention</a:t>
                      </a:r>
                      <a:endParaRPr sz="1300" b="1">
                        <a:solidFill>
                          <a:srgbClr val="112D4E"/>
                        </a:solidFill>
                        <a:latin typeface="Calibri"/>
                      </a:endParaRPr>
                    </a:p>
                  </a:txBody>
                  <a:tcPr marL="73152" marR="54864" marT="25400" marB="254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300" b="1">
                          <a:solidFill>
                            <a:srgbClr val="112D4E"/>
                          </a:solidFill>
                          <a:latin typeface="Calibri"/>
                        </a:rPr>
                        <a:t>Terra calls¹</a:t>
                      </a:r>
                      <a:endParaRPr sz="1300" b="1">
                        <a:solidFill>
                          <a:srgbClr val="112D4E"/>
                        </a:solidFill>
                        <a:latin typeface="Calibri"/>
                      </a:endParaRPr>
                    </a:p>
                  </a:txBody>
                  <a:tcPr marL="73152" marR="54864" marT="25400" marB="254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300" b="1">
                          <a:solidFill>
                            <a:srgbClr val="112D4E"/>
                          </a:solidFill>
                          <a:latin typeface="Calibri"/>
                        </a:rPr>
                        <a:t>Sol calls¹</a:t>
                      </a:r>
                      <a:endParaRPr sz="1300" b="1">
                        <a:solidFill>
                          <a:srgbClr val="112D4E"/>
                        </a:solidFill>
                        <a:latin typeface="Calibri"/>
                      </a:endParaRPr>
                    </a:p>
                  </a:txBody>
                  <a:tcPr marL="73152" marR="54864" marT="25400" marB="254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300" b="1">
                          <a:solidFill>
                            <a:srgbClr val="112D4E"/>
                          </a:solidFill>
                          <a:latin typeface="Calibri"/>
                        </a:rPr>
                        <a:t>Sol input ctx²</a:t>
                      </a:r>
                      <a:endParaRPr sz="1300" b="1">
                        <a:solidFill>
                          <a:srgbClr val="112D4E"/>
                        </a:solidFill>
                        <a:latin typeface="Calibri"/>
                      </a:endParaRPr>
                    </a:p>
                  </a:txBody>
                  <a:tcPr marL="73152" marR="54864" marT="25400" marB="25400" anchor="ctr"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/>
                      <a:r>
                        <a:rPr sz="1150" b="1">
                          <a:solidFill>
                            <a:srgbClr val="333333"/>
                          </a:solidFill>
                          <a:latin typeface="Calibri"/>
                        </a:rPr>
                        <a:t>C1 · baseline</a:t>
                      </a:r>
                      <a:endParaRPr sz="1150" b="1">
                        <a:solidFill>
                          <a:srgbClr val="333333"/>
                        </a:solidFill>
                        <a:latin typeface="Calibri"/>
                      </a:endParaRPr>
                    </a:p>
                  </a:txBody>
                  <a:tcPr marL="73152" marR="54864" marT="25400" marB="254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150" b="0">
                          <a:solidFill>
                            <a:srgbClr val="333333"/>
                          </a:solidFill>
                          <a:latin typeface="Calibri"/>
                        </a:rPr>
                        <a:t>CAM++ (native, 0.6)</a:t>
                      </a:r>
                      <a:endParaRPr sz="1150" b="0">
                        <a:solidFill>
                          <a:srgbClr val="333333"/>
                        </a:solidFill>
                        <a:latin typeface="Calibri"/>
                      </a:endParaRPr>
                    </a:p>
                  </a:txBody>
                  <a:tcPr marL="73152" marR="54864" marT="25400" marB="254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150" b="0">
                          <a:solidFill>
                            <a:srgbClr val="333333"/>
                          </a:solidFill>
                          <a:latin typeface="Calibri"/>
                        </a:rPr>
                        <a:t>—</a:t>
                      </a:r>
                      <a:endParaRPr sz="1150" b="0">
                        <a:solidFill>
                          <a:srgbClr val="333333"/>
                        </a:solidFill>
                        <a:latin typeface="Calibri"/>
                      </a:endParaRPr>
                    </a:p>
                  </a:txBody>
                  <a:tcPr marL="73152" marR="54864" marT="25400" marB="254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150" b="0">
                          <a:solidFill>
                            <a:srgbClr val="333333"/>
                          </a:solidFill>
                          <a:latin typeface="Calibri"/>
                        </a:rPr>
                        <a:t>retain 50%</a:t>
                      </a:r>
                      <a:endParaRPr sz="1150" b="0">
                        <a:solidFill>
                          <a:srgbClr val="333333"/>
                        </a:solidFill>
                        <a:latin typeface="Calibri"/>
                      </a:endParaRPr>
                    </a:p>
                  </a:txBody>
                  <a:tcPr marL="73152" marR="54864" marT="25400" marB="254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150" b="0">
                          <a:solidFill>
                            <a:srgbClr val="333333"/>
                          </a:solidFill>
                          <a:latin typeface="Calibri"/>
                        </a:rPr>
                        <a:t>≈91</a:t>
                      </a:r>
                      <a:endParaRPr sz="1150" b="0">
                        <a:solidFill>
                          <a:srgbClr val="333333"/>
                        </a:solidFill>
                        <a:latin typeface="Calibri"/>
                      </a:endParaRPr>
                    </a:p>
                  </a:txBody>
                  <a:tcPr marL="73152" marR="54864" marT="25400" marB="254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150" b="0">
                          <a:solidFill>
                            <a:srgbClr val="333333"/>
                          </a:solidFill>
                          <a:latin typeface="Calibri"/>
                        </a:rPr>
                        <a:t>0</a:t>
                      </a:r>
                      <a:endParaRPr sz="1150" b="0">
                        <a:solidFill>
                          <a:srgbClr val="333333"/>
                        </a:solidFill>
                        <a:latin typeface="Calibri"/>
                      </a:endParaRPr>
                    </a:p>
                  </a:txBody>
                  <a:tcPr marL="73152" marR="54864" marT="25400" marB="254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150" b="0">
                          <a:solidFill>
                            <a:srgbClr val="333333"/>
                          </a:solidFill>
                          <a:latin typeface="Calibri"/>
                        </a:rPr>
                        <a:t>—</a:t>
                      </a:r>
                      <a:endParaRPr sz="1150" b="0">
                        <a:solidFill>
                          <a:srgbClr val="333333"/>
                        </a:solidFill>
                        <a:latin typeface="Calibri"/>
                      </a:endParaRPr>
                    </a:p>
                  </a:txBody>
                  <a:tcPr marL="73152" marR="54864" marT="25400" marB="25400" anchor="ctr"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/>
                      <a:r>
                        <a:rPr sz="1150" b="1">
                          <a:solidFill>
                            <a:srgbClr val="333333"/>
                          </a:solidFill>
                          <a:latin typeface="Calibri"/>
                        </a:rPr>
                        <a:t>C2 · frontend ablation</a:t>
                      </a:r>
                      <a:endParaRPr sz="1150" b="1">
                        <a:solidFill>
                          <a:srgbClr val="333333"/>
                        </a:solidFill>
                        <a:latin typeface="Calibri"/>
                      </a:endParaRPr>
                    </a:p>
                  </a:txBody>
                  <a:tcPr marL="73152" marR="54864" marT="25400" marB="25400" anchor="ctr"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150" b="0">
                          <a:solidFill>
                            <a:srgbClr val="333333"/>
                          </a:solidFill>
                          <a:latin typeface="Calibri"/>
                        </a:rPr>
                        <a:t>TST / ECAPA-TDNN</a:t>
                      </a:r>
                      <a:endParaRPr sz="1150" b="0">
                        <a:solidFill>
                          <a:srgbClr val="333333"/>
                        </a:solidFill>
                        <a:latin typeface="Calibri"/>
                      </a:endParaRPr>
                    </a:p>
                  </a:txBody>
                  <a:tcPr marL="73152" marR="54864" marT="25400" marB="25400" anchor="ctr"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150" b="0">
                          <a:solidFill>
                            <a:srgbClr val="333333"/>
                          </a:solidFill>
                          <a:latin typeface="Calibri"/>
                        </a:rPr>
                        <a:t>—</a:t>
                      </a:r>
                      <a:endParaRPr sz="1150" b="0">
                        <a:solidFill>
                          <a:srgbClr val="333333"/>
                        </a:solidFill>
                        <a:latin typeface="Calibri"/>
                      </a:endParaRPr>
                    </a:p>
                  </a:txBody>
                  <a:tcPr marL="73152" marR="54864" marT="25400" marB="25400" anchor="ctr"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150" b="0">
                          <a:solidFill>
                            <a:srgbClr val="333333"/>
                          </a:solidFill>
                          <a:latin typeface="Calibri"/>
                        </a:rPr>
                        <a:t>retain 50%</a:t>
                      </a:r>
                      <a:endParaRPr sz="1150" b="0">
                        <a:solidFill>
                          <a:srgbClr val="333333"/>
                        </a:solidFill>
                        <a:latin typeface="Calibri"/>
                      </a:endParaRPr>
                    </a:p>
                  </a:txBody>
                  <a:tcPr marL="73152" marR="54864" marT="25400" marB="25400" anchor="ctr"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150" b="0">
                          <a:solidFill>
                            <a:srgbClr val="333333"/>
                          </a:solidFill>
                          <a:latin typeface="Calibri"/>
                        </a:rPr>
                        <a:t>≈91</a:t>
                      </a:r>
                      <a:endParaRPr sz="1150" b="0">
                        <a:solidFill>
                          <a:srgbClr val="333333"/>
                        </a:solidFill>
                        <a:latin typeface="Calibri"/>
                      </a:endParaRPr>
                    </a:p>
                  </a:txBody>
                  <a:tcPr marL="73152" marR="54864" marT="25400" marB="25400" anchor="ctr"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150" b="0">
                          <a:solidFill>
                            <a:srgbClr val="333333"/>
                          </a:solidFill>
                          <a:latin typeface="Calibri"/>
                        </a:rPr>
                        <a:t>0</a:t>
                      </a:r>
                      <a:endParaRPr sz="1150" b="0">
                        <a:solidFill>
                          <a:srgbClr val="333333"/>
                        </a:solidFill>
                        <a:latin typeface="Calibri"/>
                      </a:endParaRPr>
                    </a:p>
                  </a:txBody>
                  <a:tcPr marL="73152" marR="54864" marT="25400" marB="25400" anchor="ctr"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150" b="0">
                          <a:solidFill>
                            <a:srgbClr val="333333"/>
                          </a:solidFill>
                          <a:latin typeface="Calibri"/>
                        </a:rPr>
                        <a:t>—</a:t>
                      </a:r>
                      <a:endParaRPr sz="1150" b="0">
                        <a:solidFill>
                          <a:srgbClr val="333333"/>
                        </a:solidFill>
                        <a:latin typeface="Calibri"/>
                      </a:endParaRPr>
                    </a:p>
                  </a:txBody>
                  <a:tcPr marL="73152" marR="54864" marT="25400" marB="25400" anchor="ctr">
                    <a:solidFill>
                      <a:srgbClr val="F2F6FA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/>
                      <a:r>
                        <a:rPr sz="1150" b="1">
                          <a:solidFill>
                            <a:srgbClr val="333333"/>
                          </a:solidFill>
                          <a:latin typeface="Calibri"/>
                        </a:rPr>
                        <a:t>C3 · consolidation ablation</a:t>
                      </a:r>
                      <a:endParaRPr sz="1150" b="1">
                        <a:solidFill>
                          <a:srgbClr val="333333"/>
                        </a:solidFill>
                        <a:latin typeface="Calibri"/>
                      </a:endParaRPr>
                    </a:p>
                  </a:txBody>
                  <a:tcPr marL="73152" marR="54864" marT="25400" marB="254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150" b="0">
                          <a:solidFill>
                            <a:srgbClr val="333333"/>
                          </a:solidFill>
                          <a:latin typeface="Calibri"/>
                        </a:rPr>
                        <a:t>TST / ECAPA-TDNN</a:t>
                      </a:r>
                      <a:endParaRPr sz="1150" b="0">
                        <a:solidFill>
                          <a:srgbClr val="333333"/>
                        </a:solidFill>
                        <a:latin typeface="Calibri"/>
                      </a:endParaRPr>
                    </a:p>
                  </a:txBody>
                  <a:tcPr marL="73152" marR="54864" marT="25400" marB="254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150" b="0">
                          <a:solidFill>
                            <a:srgbClr val="333333"/>
                          </a:solidFill>
                          <a:latin typeface="Calibri"/>
                        </a:rPr>
                        <a:t>Sol every 1,200 s</a:t>
                      </a:r>
                      <a:endParaRPr sz="1150" b="0">
                        <a:solidFill>
                          <a:srgbClr val="333333"/>
                        </a:solidFill>
                        <a:latin typeface="Calibri"/>
                      </a:endParaRPr>
                    </a:p>
                  </a:txBody>
                  <a:tcPr marL="73152" marR="54864" marT="25400" marB="254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150" b="0">
                          <a:solidFill>
                            <a:srgbClr val="333333"/>
                          </a:solidFill>
                          <a:latin typeface="Calibri"/>
                        </a:rPr>
                        <a:t>retain 50%</a:t>
                      </a:r>
                      <a:endParaRPr sz="1150" b="0">
                        <a:solidFill>
                          <a:srgbClr val="333333"/>
                        </a:solidFill>
                        <a:latin typeface="Calibri"/>
                      </a:endParaRPr>
                    </a:p>
                  </a:txBody>
                  <a:tcPr marL="73152" marR="54864" marT="25400" marB="254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150" b="0">
                          <a:solidFill>
                            <a:srgbClr val="333333"/>
                          </a:solidFill>
                          <a:latin typeface="Calibri"/>
                        </a:rPr>
                        <a:t>≈91</a:t>
                      </a:r>
                      <a:endParaRPr sz="1150" b="0">
                        <a:solidFill>
                          <a:srgbClr val="333333"/>
                        </a:solidFill>
                        <a:latin typeface="Calibri"/>
                      </a:endParaRPr>
                    </a:p>
                  </a:txBody>
                  <a:tcPr marL="73152" marR="54864" marT="25400" marB="254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150" b="0">
                          <a:solidFill>
                            <a:srgbClr val="333333"/>
                          </a:solidFill>
                          <a:latin typeface="Calibri"/>
                        </a:rPr>
                        <a:t>2</a:t>
                      </a:r>
                      <a:endParaRPr sz="1150" b="0">
                        <a:solidFill>
                          <a:srgbClr val="333333"/>
                        </a:solidFill>
                        <a:latin typeface="Calibri"/>
                      </a:endParaRPr>
                    </a:p>
                  </a:txBody>
                  <a:tcPr marL="73152" marR="54864" marT="25400" marB="254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150" b="0">
                          <a:solidFill>
                            <a:srgbClr val="333333"/>
                          </a:solidFill>
                          <a:latin typeface="Calibri"/>
                        </a:rPr>
                        <a:t>≈311K tok / call</a:t>
                      </a:r>
                      <a:endParaRPr sz="1150" b="0">
                        <a:solidFill>
                          <a:srgbClr val="333333"/>
                        </a:solidFill>
                        <a:latin typeface="Calibri"/>
                      </a:endParaRPr>
                    </a:p>
                  </a:txBody>
                  <a:tcPr marL="73152" marR="54864" marT="25400" marB="25400" anchor="ctr"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/>
                      <a:r>
                        <a:rPr sz="1150" b="1">
                          <a:solidFill>
                            <a:srgbClr val="333333"/>
                          </a:solidFill>
                          <a:latin typeface="Calibri"/>
                        </a:rPr>
                        <a:t>C4 · full configuration</a:t>
                      </a:r>
                      <a:endParaRPr sz="1150" b="1">
                        <a:solidFill>
                          <a:srgbClr val="333333"/>
                        </a:solidFill>
                        <a:latin typeface="Calibri"/>
                      </a:endParaRPr>
                    </a:p>
                  </a:txBody>
                  <a:tcPr marL="73152" marR="54864" marT="25400" marB="25400" anchor="ctr"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150" b="0">
                          <a:solidFill>
                            <a:srgbClr val="333333"/>
                          </a:solidFill>
                          <a:latin typeface="Calibri"/>
                        </a:rPr>
                        <a:t>TST / ECAPA-TDNN</a:t>
                      </a:r>
                      <a:endParaRPr sz="1150" b="0">
                        <a:solidFill>
                          <a:srgbClr val="333333"/>
                        </a:solidFill>
                        <a:latin typeface="Calibri"/>
                      </a:endParaRPr>
                    </a:p>
                  </a:txBody>
                  <a:tcPr marL="73152" marR="54864" marT="25400" marB="25400" anchor="ctr"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150" b="0">
                          <a:solidFill>
                            <a:srgbClr val="333333"/>
                          </a:solidFill>
                          <a:latin typeface="Calibri"/>
                        </a:rPr>
                        <a:t>Sol every 1,200 s</a:t>
                      </a:r>
                      <a:endParaRPr sz="1150" b="0">
                        <a:solidFill>
                          <a:srgbClr val="333333"/>
                        </a:solidFill>
                        <a:latin typeface="Calibri"/>
                      </a:endParaRPr>
                    </a:p>
                  </a:txBody>
                  <a:tcPr marL="73152" marR="54864" marT="25400" marB="25400" anchor="ctr"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150" b="0">
                          <a:solidFill>
                            <a:srgbClr val="333333"/>
                          </a:solidFill>
                          <a:latin typeface="Calibri"/>
                        </a:rPr>
                        <a:t>retain 70%</a:t>
                      </a:r>
                      <a:endParaRPr sz="1150" b="0">
                        <a:solidFill>
                          <a:srgbClr val="333333"/>
                        </a:solidFill>
                        <a:latin typeface="Calibri"/>
                      </a:endParaRPr>
                    </a:p>
                  </a:txBody>
                  <a:tcPr marL="73152" marR="54864" marT="25400" marB="25400" anchor="ctr"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150" b="0">
                          <a:solidFill>
                            <a:srgbClr val="333333"/>
                          </a:solidFill>
                          <a:latin typeface="Calibri"/>
                        </a:rPr>
                        <a:t>≈91</a:t>
                      </a:r>
                      <a:endParaRPr sz="1150" b="0">
                        <a:solidFill>
                          <a:srgbClr val="333333"/>
                        </a:solidFill>
                        <a:latin typeface="Calibri"/>
                      </a:endParaRPr>
                    </a:p>
                  </a:txBody>
                  <a:tcPr marL="73152" marR="54864" marT="25400" marB="25400" anchor="ctr"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150" b="0">
                          <a:solidFill>
                            <a:srgbClr val="333333"/>
                          </a:solidFill>
                          <a:latin typeface="Calibri"/>
                        </a:rPr>
                        <a:t>2</a:t>
                      </a:r>
                      <a:endParaRPr sz="1150" b="0">
                        <a:solidFill>
                          <a:srgbClr val="333333"/>
                        </a:solidFill>
                        <a:latin typeface="Calibri"/>
                      </a:endParaRPr>
                    </a:p>
                  </a:txBody>
                  <a:tcPr marL="73152" marR="54864" marT="25400" marB="25400" anchor="ctr"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150" b="0">
                          <a:solidFill>
                            <a:srgbClr val="333333"/>
                          </a:solidFill>
                          <a:latin typeface="Calibri"/>
                        </a:rPr>
                        <a:t>≈311K tok / call</a:t>
                      </a:r>
                      <a:endParaRPr sz="1150" b="0">
                        <a:solidFill>
                          <a:srgbClr val="333333"/>
                        </a:solidFill>
                        <a:latin typeface="Calibri"/>
                      </a:endParaRPr>
                    </a:p>
                  </a:txBody>
                  <a:tcPr marL="73152" marR="54864" marT="25400" marB="25400" anchor="ctr">
                    <a:solidFill>
                      <a:srgbClr val="F2F6FA"/>
                    </a:solidFill>
                  </a:tcPr>
                </a:tc>
              </a:tr>
            </a:tbl>
          </a:graphicData>
        </a:graphic>
      </p:graphicFrame>
      <p:sp>
        <p:nvSpPr>
          <p:cNvPr id="8" name="TextBox 7"/>
          <p:cNvSpPr txBox="1"/>
          <p:nvPr/>
        </p:nvSpPr>
        <p:spPr>
          <a:xfrm>
            <a:off x="411480" y="3611880"/>
            <a:ext cx="113385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050" b="0">
                <a:solidFill>
                  <a:srgbClr val="5A6A7A"/>
                </a:solidFill>
                <a:latin typeface="Calibri"/>
              </a:rPr>
              <a:t>¹ Evaluated 2,400 s prefix: one structured Terra request per ≤30 s clip (91 clips); Sol windows at 1,200 s and 2,400 s.   ² Full evidence packet per window — measured 310,755 input tokens (285 KB) at the first window; grows with accumulated memories.</a:t>
            </a:r>
            <a:endParaRPr sz="1050" b="0">
              <a:solidFill>
                <a:srgbClr val="5A6A7A"/>
              </a:solidFill>
              <a:latin typeface="Calibri"/>
            </a:endParaRPr>
          </a:p>
        </p:txBody>
      </p:sp>
      <p:sp>
        <p:nvSpPr>
          <p:cNvPr id="9" name="TextBox 8"/>
          <p:cNvSpPr txBox="1"/>
          <p:nvPr/>
        </p:nvSpPr>
        <p:spPr>
          <a:xfrm>
            <a:off x="411480" y="4041648"/>
            <a:ext cx="7315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300" b="1">
                <a:solidFill>
                  <a:srgbClr val="2E6DA4"/>
                </a:solidFill>
                <a:latin typeface="Calibri"/>
              </a:rPr>
              <a:t>Retrieval paths (identical answer model and prompt; evidence differs)</a:t>
            </a:r>
            <a:endParaRPr sz="1300" b="1">
              <a:solidFill>
                <a:srgbClr val="2E6DA4"/>
              </a:solidFill>
              <a:latin typeface="Calibri"/>
            </a:endParaRPr>
          </a:p>
        </p:txBody>
      </p:sp>
      <p:graphicFrame>
        <p:nvGraphicFramePr>
          <p:cNvPr id="10" name="Table 9"/>
          <p:cNvGraphicFramePr>
            <a:graphicFrameLocks noGrp="1"/>
          </p:cNvGraphicFramePr>
          <p:nvPr/>
        </p:nvGraphicFramePr>
        <p:xfrm>
          <a:off x="411480" y="4352544"/>
          <a:ext cx="11384280" cy="109728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2286000"/>
                <a:gridCol w="2560320"/>
                <a:gridCol w="4709160"/>
                <a:gridCol w="1828800"/>
              </a:tblGrid>
              <a:tr h="365760">
                <a:tc>
                  <a:txBody>
                    <a:bodyPr/>
                    <a:lstStyle/>
                    <a:p>
                      <a:pPr algn="l"/>
                      <a:r>
                        <a:rPr sz="1300" b="1">
                          <a:solidFill>
                            <a:srgbClr val="112D4E"/>
                          </a:solidFill>
                          <a:latin typeface="Calibri"/>
                        </a:rPr>
                        <a:t>Path</a:t>
                      </a:r>
                      <a:endParaRPr sz="1300" b="1">
                        <a:solidFill>
                          <a:srgbClr val="112D4E"/>
                        </a:solidFill>
                        <a:latin typeface="Calibri"/>
                      </a:endParaRPr>
                    </a:p>
                  </a:txBody>
                  <a:tcPr marL="73152" marR="54864" marT="25400" marB="254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300" b="1">
                          <a:solidFill>
                            <a:srgbClr val="112D4E"/>
                          </a:solidFill>
                          <a:latin typeface="Calibri"/>
                        </a:rPr>
                        <a:t>Backend</a:t>
                      </a:r>
                      <a:endParaRPr sz="1300" b="1">
                        <a:solidFill>
                          <a:srgbClr val="112D4E"/>
                        </a:solidFill>
                        <a:latin typeface="Calibri"/>
                      </a:endParaRPr>
                    </a:p>
                  </a:txBody>
                  <a:tcPr marL="73152" marR="54864" marT="25400" marB="254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300" b="1">
                          <a:solidFill>
                            <a:srgbClr val="112D4E"/>
                          </a:solidFill>
                          <a:latin typeface="Calibri"/>
                        </a:rPr>
                        <a:t>Stages</a:t>
                      </a:r>
                      <a:endParaRPr sz="1300" b="1">
                        <a:solidFill>
                          <a:srgbClr val="112D4E"/>
                        </a:solidFill>
                        <a:latin typeface="Calibri"/>
                      </a:endParaRPr>
                    </a:p>
                  </a:txBody>
                  <a:tcPr marL="73152" marR="54864" marT="25400" marB="254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300" b="1">
                          <a:solidFill>
                            <a:srgbClr val="112D4E"/>
                          </a:solidFill>
                          <a:latin typeface="Calibri"/>
                        </a:rPr>
                        <a:t>Evidence</a:t>
                      </a:r>
                      <a:endParaRPr sz="1300" b="1">
                        <a:solidFill>
                          <a:srgbClr val="112D4E"/>
                        </a:solidFill>
                        <a:latin typeface="Calibri"/>
                      </a:endParaRPr>
                    </a:p>
                  </a:txBody>
                  <a:tcPr marL="73152" marR="54864" marT="25400" marB="25400" anchor="ctr"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/>
                      <a:r>
                        <a:rPr sz="1150" b="1">
                          <a:solidFill>
                            <a:srgbClr val="333333"/>
                          </a:solidFill>
                          <a:latin typeface="Calibri"/>
                        </a:rPr>
                        <a:t>R1 · native StreamMeCo</a:t>
                      </a:r>
                      <a:endParaRPr sz="1150" b="1">
                        <a:solidFill>
                          <a:srgbClr val="333333"/>
                        </a:solidFill>
                        <a:latin typeface="Calibri"/>
                      </a:endParaRPr>
                    </a:p>
                  </a:txBody>
                  <a:tcPr marL="73152" marR="54864" marT="25400" marB="254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150" b="0">
                          <a:solidFill>
                            <a:srgbClr val="333333"/>
                          </a:solidFill>
                          <a:latin typeface="Calibri"/>
                        </a:rPr>
                        <a:t>M3 VideoGraph</a:t>
                      </a:r>
                      <a:endParaRPr sz="1150" b="0">
                        <a:solidFill>
                          <a:srgbClr val="333333"/>
                        </a:solidFill>
                        <a:latin typeface="Calibri"/>
                      </a:endParaRPr>
                    </a:p>
                  </a:txBody>
                  <a:tcPr marL="73152" marR="54864" marT="25400" marB="254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150" b="0">
                          <a:solidFill>
                            <a:srgbClr val="333333"/>
                          </a:solidFill>
                          <a:latin typeface="Calibri"/>
                        </a:rPr>
                        <a:t>Query embedding → dense vector search → TMR scoring → node lookup</a:t>
                      </a:r>
                      <a:endParaRPr sz="1150" b="0">
                        <a:solidFill>
                          <a:srgbClr val="333333"/>
                        </a:solidFill>
                        <a:latin typeface="Calibri"/>
                      </a:endParaRPr>
                    </a:p>
                  </a:txBody>
                  <a:tcPr marL="73152" marR="54864" marT="25400" marB="254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150" b="0">
                          <a:solidFill>
                            <a:srgbClr val="333333"/>
                          </a:solidFill>
                          <a:latin typeface="Calibri"/>
                        </a:rPr>
                        <a:t>Graph nodes</a:t>
                      </a:r>
                      <a:endParaRPr sz="1150" b="0">
                        <a:solidFill>
                          <a:srgbClr val="333333"/>
                        </a:solidFill>
                        <a:latin typeface="Calibri"/>
                      </a:endParaRPr>
                    </a:p>
                  </a:txBody>
                  <a:tcPr marL="73152" marR="54864" marT="25400" marB="25400" anchor="ctr"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/>
                      <a:r>
                        <a:rPr sz="1150" b="1">
                          <a:solidFill>
                            <a:srgbClr val="333333"/>
                          </a:solidFill>
                          <a:latin typeface="Calibri"/>
                        </a:rPr>
                        <a:t>R2 · Mandol hybrid</a:t>
                      </a:r>
                      <a:endParaRPr sz="1150" b="1">
                        <a:solidFill>
                          <a:srgbClr val="333333"/>
                        </a:solidFill>
                        <a:latin typeface="Calibri"/>
                      </a:endParaRPr>
                    </a:p>
                  </a:txBody>
                  <a:tcPr marL="73152" marR="54864" marT="25400" marB="25400" anchor="ctr"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150" b="0">
                          <a:solidFill>
                            <a:srgbClr val="333333"/>
                          </a:solidFill>
                          <a:latin typeface="Calibri"/>
                        </a:rPr>
                        <a:t>Mandol worker per snapshot</a:t>
                      </a:r>
                      <a:endParaRPr sz="1150" b="0">
                        <a:solidFill>
                          <a:srgbClr val="333333"/>
                        </a:solidFill>
                        <a:latin typeface="Calibri"/>
                      </a:endParaRPr>
                    </a:p>
                  </a:txBody>
                  <a:tcPr marL="73152" marR="54864" marT="25400" marB="25400" anchor="ctr"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150" b="0">
                          <a:solidFill>
                            <a:srgbClr val="333333"/>
                          </a:solidFill>
                          <a:latin typeface="Calibri"/>
                        </a:rPr>
                        <a:t>Dense + BM25 + SPLADE → RRF fusion → Qwen3-Reranker-0.6B (302.AI)</a:t>
                      </a:r>
                      <a:endParaRPr sz="1150" b="0">
                        <a:solidFill>
                          <a:srgbClr val="333333"/>
                        </a:solidFill>
                        <a:latin typeface="Calibri"/>
                      </a:endParaRPr>
                    </a:p>
                  </a:txBody>
                  <a:tcPr marL="73152" marR="54864" marT="25400" marB="25400" anchor="ctr"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150" b="0">
                          <a:solidFill>
                            <a:srgbClr val="333333"/>
                          </a:solidFill>
                          <a:latin typeface="Calibri"/>
                        </a:rPr>
                        <a:t>Top-10 units</a:t>
                      </a:r>
                      <a:endParaRPr sz="1150" b="0">
                        <a:solidFill>
                          <a:srgbClr val="333333"/>
                        </a:solidFill>
                        <a:latin typeface="Calibri"/>
                      </a:endParaRPr>
                    </a:p>
                  </a:txBody>
                  <a:tcPr marL="73152" marR="54864" marT="25400" marB="25400" anchor="ctr">
                    <a:solidFill>
                      <a:srgbClr val="F2F6FA"/>
                    </a:solidFill>
                  </a:tcPr>
                </a:tc>
              </a:tr>
            </a:tbl>
          </a:graphicData>
        </a:graphic>
      </p:graphicFrame>
      <p:sp>
        <p:nvSpPr>
          <p:cNvPr id="11" name="TextBox 10"/>
          <p:cNvSpPr txBox="1"/>
          <p:nvPr/>
        </p:nvSpPr>
        <p:spPr>
          <a:xfrm>
            <a:off x="411480" y="5623560"/>
            <a:ext cx="1133856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200" b="1">
                <a:solidFill>
                  <a:srgbClr val="333333"/>
                </a:solidFill>
                <a:latin typeface="Calibri"/>
              </a:rPr>
              <a:t>Backends: </a:t>
            </a:r>
            <a:r>
              <a:rPr sz="1200" b="0">
                <a:solidFill>
                  <a:srgbClr val="333333"/>
                </a:solidFill>
                <a:latin typeface="Calibri"/>
              </a:rPr>
              <a:t>construction gpt-5.6-terra (medium) · consolidation gpt-5.6-sol (high) · answering gpt-5.6-terra. Rerank or consolidation failure stops the run — no silent fallback.</a:t>
            </a:r>
            <a:endParaRPr sz="1200" b="0">
              <a:solidFill>
                <a:srgbClr val="333333"/>
              </a:solidFill>
              <a:latin typeface="Calibri"/>
            </a:endParaRPr>
          </a:p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200" b="1">
                <a:solidFill>
                  <a:srgbClr val="333333"/>
                </a:solidFill>
                <a:latin typeface="Calibri"/>
              </a:rPr>
              <a:t>Schedules: </a:t>
            </a:r>
            <a:r>
              <a:rPr sz="1200" b="0">
                <a:solidFill>
                  <a:srgbClr val="333333"/>
                </a:solidFill>
                <a:latin typeface="Calibri"/>
              </a:rPr>
              <a:t>102 Jake Day-1 questions (EgoLife) at recording wall-clock times; 1,000 AEA questions on the derived causal QA schedule.</a:t>
            </a:r>
            <a:endParaRPr sz="1200" b="0">
              <a:solidFill>
                <a:srgbClr val="333333"/>
              </a:solidFill>
              <a:latin typeface="Calibri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1643055" y="6537960"/>
            <a:ext cx="4572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>
                <a:solidFill>
                  <a:srgbClr val="5A6A7A"/>
                </a:solidFill>
                <a:latin typeface="Calibri"/>
              </a:rPr>
              <a:t>6</a:t>
            </a:r>
            <a:endParaRPr sz="1000">
              <a:solidFill>
                <a:srgbClr val="5A6A7A"/>
              </a:solidFill>
              <a:latin typeface="Calibri"/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411480" y="201168"/>
            <a:ext cx="98755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3000" b="1">
                <a:solidFill>
                  <a:srgbClr val="112D4E"/>
                </a:solidFill>
                <a:latin typeface="Calibri"/>
              </a:rPr>
              <a:t>Memory construction latency — stage breakdown</a:t>
            </a:r>
            <a:endParaRPr sz="3000" b="1">
              <a:solidFill>
                <a:srgbClr val="112D4E"/>
              </a:solidFill>
              <a:latin typeface="Calibri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9814255" y="320040"/>
            <a:ext cx="20116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lnSpc>
                <a:spcPct val="100000"/>
              </a:lnSpc>
              <a:spcAft>
                <a:spcPts val="400"/>
              </a:spcAft>
            </a:pPr>
            <a:r>
              <a:rPr sz="1300" b="1">
                <a:solidFill>
                  <a:srgbClr val="2E6DA4"/>
                </a:solidFill>
                <a:latin typeface="Calibri"/>
              </a:rPr>
              <a:t>RESULTS · CONSTRUCTION</a:t>
            </a:r>
            <a:endParaRPr sz="1300" b="1">
              <a:solidFill>
                <a:srgbClr val="2E6DA4"/>
              </a:solidFill>
              <a:latin typeface="Calibri"/>
            </a:endParaRPr>
          </a:p>
        </p:txBody>
      </p:sp>
      <p:sp>
        <p:nvSpPr>
          <p:cNvPr id="5" name="Rectangle 4"/>
          <p:cNvSpPr/>
          <p:nvPr/>
        </p:nvSpPr>
        <p:spPr>
          <a:xfrm>
            <a:off x="411480" y="896112"/>
            <a:ext cx="11368735" cy="475488"/>
          </a:xfrm>
          <a:prstGeom prst="rect">
            <a:avLst/>
          </a:prstGeom>
          <a:noFill/>
          <a:ln w="12700">
            <a:solidFill>
              <a:srgbClr val="C9D4D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9728" tIns="54864" bIns="36576" rtlCol="0" anchor="ctr"/>
          <a:lstStyle/>
          <a:p>
            <a:pPr algn="ctr"/>
            <a:r>
              <a:rPr sz="1350">
                <a:solidFill>
                  <a:srgbClr val="5A6A7A"/>
                </a:solidFill>
                <a:latin typeface="Calibri"/>
              </a:rPr>
              <a:t>C1–C3 counted together: decode and ASR are shared per event; nested stages overlap and must not be summed. 91 media clips, first 2,400 s.</a:t>
            </a:r>
            <a:endParaRPr sz="1350">
              <a:solidFill>
                <a:srgbClr val="5A6A7A"/>
              </a:solidFill>
              <a:latin typeface="Calibri"/>
            </a:endParaRPr>
          </a:p>
        </p:txBody>
      </p:sp>
      <p:sp>
        <p:nvSpPr>
          <p:cNvPr id="6" name="Rectangle 5"/>
          <p:cNvSpPr/>
          <p:nvPr/>
        </p:nvSpPr>
        <p:spPr>
          <a:xfrm>
            <a:off x="411480" y="1481328"/>
            <a:ext cx="11368735" cy="19050"/>
          </a:xfrm>
          <a:prstGeom prst="rect">
            <a:avLst/>
          </a:prstGeom>
          <a:solidFill>
            <a:srgbClr val="C9D4D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411480" y="1645920"/>
            <a:ext cx="3657600" cy="1005840"/>
          </a:xfrm>
          <a:prstGeom prst="roundRect">
            <a:avLst>
              <a:gd name="adj" fmla="val 8000"/>
            </a:avLst>
          </a:prstGeom>
          <a:solidFill>
            <a:srgbClr val="EAF1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64592" tIns="91440" rtlCol="0" anchor="ctr"/>
          <a:lstStyle/>
          <a:p>
            <a:pPr algn="ctr">
              <a:spcAft>
                <a:spcPts val="200"/>
              </a:spcAft>
            </a:pPr>
            <a:r>
              <a:rPr sz="1300" b="1">
                <a:solidFill>
                  <a:srgbClr val="112D4E"/>
                </a:solidFill>
                <a:latin typeface="Calibri"/>
              </a:rPr>
              <a:t>Process-segment wall</a:t>
            </a:r>
            <a:endParaRPr sz="1300" b="1">
              <a:solidFill>
                <a:srgbClr val="112D4E"/>
              </a:solidFill>
              <a:latin typeface="Calibri"/>
            </a:endParaRPr>
          </a:p>
          <a:p>
            <a:pPr>
              <a:spcAft>
                <a:spcPts val="200"/>
              </a:spcAft>
            </a:pPr>
            <a:r>
              <a:rPr sz="2400" b="1">
                <a:solidFill>
                  <a:srgbClr val="2E6DA4"/>
                </a:solidFill>
                <a:latin typeface="Calibri"/>
              </a:rPr>
              <a:t>≈ 17.2–17.8 s</a:t>
            </a:r>
            <a:endParaRPr sz="2400" b="1">
              <a:solidFill>
                <a:srgbClr val="2E6DA4"/>
              </a:solidFill>
              <a:latin typeface="Calibri"/>
            </a:endParaRPr>
          </a:p>
          <a:p>
            <a:pPr>
              <a:spcAft>
                <a:spcPts val="200"/>
              </a:spcAft>
            </a:pPr>
            <a:r>
              <a:rPr sz="1100" b="0">
                <a:solidFill>
                  <a:srgbClr val="5A6A7A"/>
                </a:solidFill>
                <a:latin typeface="Calibri"/>
              </a:rPr>
              <a:t>Mean per 30 s clip, admission→commit</a:t>
            </a:r>
            <a:endParaRPr sz="1100" b="0">
              <a:solidFill>
                <a:srgbClr val="5A6A7A"/>
              </a:solidFill>
              <a:latin typeface="Calibri"/>
            </a:endParaRPr>
          </a:p>
        </p:txBody>
      </p:sp>
      <p:sp>
        <p:nvSpPr>
          <p:cNvPr id="8" name="Rounded Rectangle 7"/>
          <p:cNvSpPr/>
          <p:nvPr/>
        </p:nvSpPr>
        <p:spPr>
          <a:xfrm>
            <a:off x="4251960" y="1645920"/>
            <a:ext cx="3657600" cy="1005840"/>
          </a:xfrm>
          <a:prstGeom prst="roundRect">
            <a:avLst>
              <a:gd name="adj" fmla="val 8000"/>
            </a:avLst>
          </a:prstGeom>
          <a:solidFill>
            <a:srgbClr val="EAF6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64592" tIns="91440" rtlCol="0" anchor="ctr"/>
          <a:lstStyle/>
          <a:p>
            <a:pPr algn="ctr">
              <a:spcAft>
                <a:spcPts val="200"/>
              </a:spcAft>
            </a:pPr>
            <a:r>
              <a:rPr sz="1300" b="1">
                <a:solidFill>
                  <a:srgbClr val="112D4E"/>
                </a:solidFill>
                <a:latin typeface="Calibri"/>
              </a:rPr>
              <a:t>Terra memory generation</a:t>
            </a:r>
            <a:endParaRPr sz="1300" b="1">
              <a:solidFill>
                <a:srgbClr val="112D4E"/>
              </a:solidFill>
              <a:latin typeface="Calibri"/>
            </a:endParaRPr>
          </a:p>
          <a:p>
            <a:pPr>
              <a:spcAft>
                <a:spcPts val="200"/>
              </a:spcAft>
            </a:pPr>
            <a:r>
              <a:rPr sz="2400" b="1">
                <a:solidFill>
                  <a:srgbClr val="2E7D4F"/>
                </a:solidFill>
                <a:latin typeface="Calibri"/>
              </a:rPr>
              <a:t>14.5–15.2 s</a:t>
            </a:r>
            <a:endParaRPr sz="2400" b="1">
              <a:solidFill>
                <a:srgbClr val="2E7D4F"/>
              </a:solidFill>
              <a:latin typeface="Calibri"/>
            </a:endParaRPr>
          </a:p>
          <a:p>
            <a:pPr>
              <a:spcAft>
                <a:spcPts val="200"/>
              </a:spcAft>
            </a:pPr>
            <a:r>
              <a:rPr sz="1100" b="0">
                <a:solidFill>
                  <a:srgbClr val="5A6A7A"/>
                </a:solidFill>
                <a:latin typeface="Calibri"/>
              </a:rPr>
              <a:t>Dominant stage (VLM call, 2 fps)</a:t>
            </a:r>
            <a:endParaRPr sz="1100" b="0">
              <a:solidFill>
                <a:srgbClr val="5A6A7A"/>
              </a:solidFill>
              <a:latin typeface="Calibri"/>
            </a:endParaRPr>
          </a:p>
        </p:txBody>
      </p:sp>
      <p:sp>
        <p:nvSpPr>
          <p:cNvPr id="9" name="Rounded Rectangle 8"/>
          <p:cNvSpPr/>
          <p:nvPr/>
        </p:nvSpPr>
        <p:spPr>
          <a:xfrm>
            <a:off x="8092440" y="1645920"/>
            <a:ext cx="3657600" cy="1005840"/>
          </a:xfrm>
          <a:prstGeom prst="roundRect">
            <a:avLst>
              <a:gd name="adj" fmla="val 8000"/>
            </a:avLst>
          </a:prstGeom>
          <a:solidFill>
            <a:srgbClr val="FDF3E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64592" tIns="91440" rtlCol="0" anchor="ctr"/>
          <a:lstStyle/>
          <a:p>
            <a:pPr algn="ctr">
              <a:spcAft>
                <a:spcPts val="200"/>
              </a:spcAft>
            </a:pPr>
            <a:r>
              <a:rPr sz="1300" b="1">
                <a:solidFill>
                  <a:srgbClr val="112D4E"/>
                </a:solidFill>
                <a:latin typeface="Calibri"/>
              </a:rPr>
              <a:t>Speaker mapping</a:t>
            </a:r>
            <a:endParaRPr sz="1300" b="1">
              <a:solidFill>
                <a:srgbClr val="112D4E"/>
              </a:solidFill>
              <a:latin typeface="Calibri"/>
            </a:endParaRPr>
          </a:p>
          <a:p>
            <a:pPr>
              <a:spcAft>
                <a:spcPts val="200"/>
              </a:spcAft>
            </a:pPr>
            <a:r>
              <a:rPr sz="2400" b="1">
                <a:solidFill>
                  <a:srgbClr val="B47A1E"/>
                </a:solidFill>
                <a:latin typeface="Calibri"/>
              </a:rPr>
              <a:t>148 → 34 ms</a:t>
            </a:r>
            <a:endParaRPr sz="2400" b="1">
              <a:solidFill>
                <a:srgbClr val="B47A1E"/>
              </a:solidFill>
              <a:latin typeface="Calibri"/>
            </a:endParaRPr>
          </a:p>
          <a:p>
            <a:pPr>
              <a:spcAft>
                <a:spcPts val="200"/>
              </a:spcAft>
            </a:pPr>
            <a:r>
              <a:rPr sz="1100" b="0">
                <a:solidFill>
                  <a:srgbClr val="5A6A7A"/>
                </a:solidFill>
                <a:latin typeface="Calibri"/>
              </a:rPr>
              <a:t>CAM++ (C1) vs TST ECAPA (C2–C3), when speech present</a:t>
            </a:r>
            <a:endParaRPr sz="1100" b="0">
              <a:solidFill>
                <a:srgbClr val="5A6A7A"/>
              </a:solidFill>
              <a:latin typeface="Calibri"/>
            </a:endParaRPr>
          </a:p>
        </p:txBody>
      </p:sp>
      <p:graphicFrame>
        <p:nvGraphicFramePr>
          <p:cNvPr id="10" name="Table 9"/>
          <p:cNvGraphicFramePr>
            <a:graphicFrameLocks noGrp="1"/>
          </p:cNvGraphicFramePr>
          <p:nvPr/>
        </p:nvGraphicFramePr>
        <p:xfrm>
          <a:off x="411480" y="2834640"/>
          <a:ext cx="11384280" cy="3456432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3840480"/>
                <a:gridCol w="2011680"/>
                <a:gridCol w="2743200"/>
                <a:gridCol w="2788920"/>
              </a:tblGrid>
              <a:tr h="288036">
                <a:tc>
                  <a:txBody>
                    <a:bodyPr/>
                    <a:lstStyle/>
                    <a:p>
                      <a:pPr algn="l"/>
                      <a:r>
                        <a:rPr sz="1300" b="1">
                          <a:solidFill>
                            <a:srgbClr val="112D4E"/>
                          </a:solidFill>
                          <a:latin typeface="Calibri"/>
                        </a:rPr>
                        <a:t>Stage (mean ms)</a:t>
                      </a:r>
                      <a:endParaRPr sz="1300" b="1">
                        <a:solidFill>
                          <a:srgbClr val="112D4E"/>
                        </a:solidFill>
                        <a:latin typeface="Calibri"/>
                      </a:endParaRPr>
                    </a:p>
                  </a:txBody>
                  <a:tcPr marL="73152" marR="54864" marT="25400" marB="254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300" b="1">
                          <a:solidFill>
                            <a:srgbClr val="112D4E"/>
                          </a:solidFill>
                          <a:latin typeface="Calibri"/>
                        </a:rPr>
                        <a:t>C1 · CAM++</a:t>
                      </a:r>
                      <a:endParaRPr sz="1300" b="1">
                        <a:solidFill>
                          <a:srgbClr val="112D4E"/>
                        </a:solidFill>
                        <a:latin typeface="Calibri"/>
                      </a:endParaRPr>
                    </a:p>
                  </a:txBody>
                  <a:tcPr marL="73152" marR="54864" marT="25400" marB="254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300" b="1">
                          <a:solidFill>
                            <a:srgbClr val="112D4E"/>
                          </a:solidFill>
                          <a:latin typeface="Calibri"/>
                        </a:rPr>
                        <a:t>C3 · TST + consolidation</a:t>
                      </a:r>
                      <a:endParaRPr sz="1300" b="1">
                        <a:solidFill>
                          <a:srgbClr val="112D4E"/>
                        </a:solidFill>
                        <a:latin typeface="Calibri"/>
                      </a:endParaRPr>
                    </a:p>
                  </a:txBody>
                  <a:tcPr marL="73152" marR="54864" marT="25400" marB="254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300" b="1">
                          <a:solidFill>
                            <a:srgbClr val="112D4E"/>
                          </a:solidFill>
                          <a:latin typeface="Calibri"/>
                        </a:rPr>
                        <a:t>Notes</a:t>
                      </a:r>
                      <a:endParaRPr sz="1300" b="1">
                        <a:solidFill>
                          <a:srgbClr val="112D4E"/>
                        </a:solidFill>
                        <a:latin typeface="Calibri"/>
                      </a:endParaRPr>
                    </a:p>
                  </a:txBody>
                  <a:tcPr marL="73152" marR="54864" marT="25400" marB="25400" anchor="ctr">
                    <a:solidFill>
                      <a:srgbClr val="FFFFFF"/>
                    </a:solidFill>
                  </a:tcPr>
                </a:tc>
              </a:tr>
              <a:tr h="288036">
                <a:tc>
                  <a:txBody>
                    <a:bodyPr/>
                    <a:lstStyle/>
                    <a:p>
                      <a:pPr algn="l"/>
                      <a:r>
                        <a:rPr sz="1150" b="1">
                          <a:solidFill>
                            <a:srgbClr val="333333"/>
                          </a:solidFill>
                          <a:latin typeface="Calibri"/>
                        </a:rPr>
                        <a:t>Clip decode</a:t>
                      </a:r>
                      <a:endParaRPr sz="1150" b="1">
                        <a:solidFill>
                          <a:srgbClr val="333333"/>
                        </a:solidFill>
                        <a:latin typeface="Calibri"/>
                      </a:endParaRPr>
                    </a:p>
                  </a:txBody>
                  <a:tcPr marL="73152" marR="54864" marT="25400" marB="254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150" b="0">
                          <a:solidFill>
                            <a:srgbClr val="333333"/>
                          </a:solidFill>
                          <a:latin typeface="Calibri"/>
                        </a:rPr>
                        <a:t>2,963</a:t>
                      </a:r>
                      <a:endParaRPr sz="1150" b="0">
                        <a:solidFill>
                          <a:srgbClr val="333333"/>
                        </a:solidFill>
                        <a:latin typeface="Calibri"/>
                      </a:endParaRPr>
                    </a:p>
                  </a:txBody>
                  <a:tcPr marL="73152" marR="54864" marT="25400" marB="254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150" b="0">
                          <a:solidFill>
                            <a:srgbClr val="333333"/>
                          </a:solidFill>
                          <a:latin typeface="Calibri"/>
                        </a:rPr>
                        <a:t>2,963</a:t>
                      </a:r>
                      <a:endParaRPr sz="1150" b="0">
                        <a:solidFill>
                          <a:srgbClr val="333333"/>
                        </a:solidFill>
                        <a:latin typeface="Calibri"/>
                      </a:endParaRPr>
                    </a:p>
                  </a:txBody>
                  <a:tcPr marL="73152" marR="54864" marT="25400" marB="254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150" b="0">
                          <a:solidFill>
                            <a:srgbClr val="333333"/>
                          </a:solidFill>
                          <a:latin typeface="Calibri"/>
                        </a:rPr>
                        <a:t>Shared across C1–C4</a:t>
                      </a:r>
                      <a:endParaRPr sz="1150" b="0">
                        <a:solidFill>
                          <a:srgbClr val="333333"/>
                        </a:solidFill>
                        <a:latin typeface="Calibri"/>
                      </a:endParaRPr>
                    </a:p>
                  </a:txBody>
                  <a:tcPr marL="73152" marR="54864" marT="25400" marB="25400" anchor="ctr">
                    <a:solidFill>
                      <a:srgbClr val="FFFFFF"/>
                    </a:solidFill>
                  </a:tcPr>
                </a:tc>
              </a:tr>
              <a:tr h="288036">
                <a:tc>
                  <a:txBody>
                    <a:bodyPr/>
                    <a:lstStyle/>
                    <a:p>
                      <a:pPr algn="l"/>
                      <a:r>
                        <a:rPr sz="1150" b="1">
                          <a:solidFill>
                            <a:srgbClr val="333333"/>
                          </a:solidFill>
                          <a:latin typeface="Calibri"/>
                        </a:rPr>
                        <a:t>Shared ASR cache / request</a:t>
                      </a:r>
                      <a:endParaRPr sz="1150" b="1">
                        <a:solidFill>
                          <a:srgbClr val="333333"/>
                        </a:solidFill>
                        <a:latin typeface="Calibri"/>
                      </a:endParaRPr>
                    </a:p>
                  </a:txBody>
                  <a:tcPr marL="73152" marR="54864" marT="25400" marB="25400" anchor="ctr"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150" b="0">
                          <a:solidFill>
                            <a:srgbClr val="333333"/>
                          </a:solidFill>
                          <a:latin typeface="Calibri"/>
                        </a:rPr>
                        <a:t>769</a:t>
                      </a:r>
                      <a:endParaRPr sz="1150" b="0">
                        <a:solidFill>
                          <a:srgbClr val="333333"/>
                        </a:solidFill>
                        <a:latin typeface="Calibri"/>
                      </a:endParaRPr>
                    </a:p>
                  </a:txBody>
                  <a:tcPr marL="73152" marR="54864" marT="25400" marB="25400" anchor="ctr"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150" b="0">
                          <a:solidFill>
                            <a:srgbClr val="333333"/>
                          </a:solidFill>
                          <a:latin typeface="Calibri"/>
                        </a:rPr>
                        <a:t>769</a:t>
                      </a:r>
                      <a:endParaRPr sz="1150" b="0">
                        <a:solidFill>
                          <a:srgbClr val="333333"/>
                        </a:solidFill>
                        <a:latin typeface="Calibri"/>
                      </a:endParaRPr>
                    </a:p>
                  </a:txBody>
                  <a:tcPr marL="73152" marR="54864" marT="25400" marB="25400" anchor="ctr"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150" b="0">
                          <a:solidFill>
                            <a:srgbClr val="333333"/>
                          </a:solidFill>
                          <a:latin typeface="Calibri"/>
                        </a:rPr>
                        <a:t>Deepgram diarize v2, content-cached</a:t>
                      </a:r>
                      <a:endParaRPr sz="1150" b="0">
                        <a:solidFill>
                          <a:srgbClr val="333333"/>
                        </a:solidFill>
                        <a:latin typeface="Calibri"/>
                      </a:endParaRPr>
                    </a:p>
                  </a:txBody>
                  <a:tcPr marL="73152" marR="54864" marT="25400" marB="25400" anchor="ctr">
                    <a:solidFill>
                      <a:srgbClr val="F2F6FA"/>
                    </a:solidFill>
                  </a:tcPr>
                </a:tc>
              </a:tr>
              <a:tr h="288036">
                <a:tc>
                  <a:txBody>
                    <a:bodyPr/>
                    <a:lstStyle/>
                    <a:p>
                      <a:pPr algn="l"/>
                      <a:r>
                        <a:rPr sz="1150" b="1">
                          <a:solidFill>
                            <a:srgbClr val="333333"/>
                          </a:solidFill>
                          <a:latin typeface="Calibri"/>
                        </a:rPr>
                        <a:t>Audio segmentation</a:t>
                      </a:r>
                      <a:endParaRPr sz="1150" b="1">
                        <a:solidFill>
                          <a:srgbClr val="333333"/>
                        </a:solidFill>
                        <a:latin typeface="Calibri"/>
                      </a:endParaRPr>
                    </a:p>
                  </a:txBody>
                  <a:tcPr marL="73152" marR="54864" marT="25400" marB="254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150" b="0">
                          <a:solidFill>
                            <a:srgbClr val="333333"/>
                          </a:solidFill>
                          <a:latin typeface="Calibri"/>
                        </a:rPr>
                        <a:t>3.6</a:t>
                      </a:r>
                      <a:endParaRPr sz="1150" b="0">
                        <a:solidFill>
                          <a:srgbClr val="333333"/>
                        </a:solidFill>
                        <a:latin typeface="Calibri"/>
                      </a:endParaRPr>
                    </a:p>
                  </a:txBody>
                  <a:tcPr marL="73152" marR="54864" marT="25400" marB="254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150" b="0">
                          <a:solidFill>
                            <a:srgbClr val="333333"/>
                          </a:solidFill>
                          <a:latin typeface="Calibri"/>
                        </a:rPr>
                        <a:t>3.5</a:t>
                      </a:r>
                      <a:endParaRPr sz="1150" b="0">
                        <a:solidFill>
                          <a:srgbClr val="333333"/>
                        </a:solidFill>
                        <a:latin typeface="Calibri"/>
                      </a:endParaRPr>
                    </a:p>
                  </a:txBody>
                  <a:tcPr marL="73152" marR="54864" marT="25400" marB="254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endParaRPr sz="1150" b="0">
                        <a:solidFill>
                          <a:srgbClr val="333333"/>
                        </a:solidFill>
                        <a:latin typeface="Calibri"/>
                      </a:endParaRPr>
                    </a:p>
                  </a:txBody>
                  <a:tcPr marL="73152" marR="54864" marT="25400" marB="25400" anchor="ctr">
                    <a:solidFill>
                      <a:srgbClr val="FFFFFF"/>
                    </a:solidFill>
                  </a:tcPr>
                </a:tc>
              </a:tr>
              <a:tr h="288036">
                <a:tc>
                  <a:txBody>
                    <a:bodyPr/>
                    <a:lstStyle/>
                    <a:p>
                      <a:pPr algn="l"/>
                      <a:r>
                        <a:rPr sz="1150" b="1">
                          <a:solidFill>
                            <a:srgbClr val="333333"/>
                          </a:solidFill>
                          <a:latin typeface="Calibri"/>
                        </a:rPr>
                        <a:t>Speaker mapping (incl. embedding)</a:t>
                      </a:r>
                      <a:endParaRPr sz="1150" b="1">
                        <a:solidFill>
                          <a:srgbClr val="333333"/>
                        </a:solidFill>
                        <a:latin typeface="Calibri"/>
                      </a:endParaRPr>
                    </a:p>
                  </a:txBody>
                  <a:tcPr marL="73152" marR="54864" marT="25400" marB="25400" anchor="ctr"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150" b="0">
                          <a:solidFill>
                            <a:srgbClr val="333333"/>
                          </a:solidFill>
                          <a:latin typeface="Calibri"/>
                        </a:rPr>
                        <a:t>148.0</a:t>
                      </a:r>
                      <a:endParaRPr sz="1150" b="0">
                        <a:solidFill>
                          <a:srgbClr val="333333"/>
                        </a:solidFill>
                        <a:latin typeface="Calibri"/>
                      </a:endParaRPr>
                    </a:p>
                  </a:txBody>
                  <a:tcPr marL="73152" marR="54864" marT="25400" marB="25400" anchor="ctr"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150" b="0">
                          <a:solidFill>
                            <a:srgbClr val="333333"/>
                          </a:solidFill>
                          <a:latin typeface="Calibri"/>
                        </a:rPr>
                        <a:t>34.2</a:t>
                      </a:r>
                      <a:endParaRPr sz="1150" b="0">
                        <a:solidFill>
                          <a:srgbClr val="333333"/>
                        </a:solidFill>
                        <a:latin typeface="Calibri"/>
                      </a:endParaRPr>
                    </a:p>
                  </a:txBody>
                  <a:tcPr marL="73152" marR="54864" marT="25400" marB="25400" anchor="ctr"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150" b="0">
                          <a:solidFill>
                            <a:srgbClr val="333333"/>
                          </a:solidFill>
                          <a:latin typeface="Calibri"/>
                        </a:rPr>
                        <a:t>28 speech-bearing clips</a:t>
                      </a:r>
                      <a:endParaRPr sz="1150" b="0">
                        <a:solidFill>
                          <a:srgbClr val="333333"/>
                        </a:solidFill>
                        <a:latin typeface="Calibri"/>
                      </a:endParaRPr>
                    </a:p>
                  </a:txBody>
                  <a:tcPr marL="73152" marR="54864" marT="25400" marB="25400" anchor="ctr">
                    <a:solidFill>
                      <a:srgbClr val="F2F6FA"/>
                    </a:solidFill>
                  </a:tcPr>
                </a:tc>
              </a:tr>
              <a:tr h="288036">
                <a:tc>
                  <a:txBody>
                    <a:bodyPr/>
                    <a:lstStyle/>
                    <a:p>
                      <a:pPr algn="l"/>
                      <a:r>
                        <a:rPr sz="1150" b="1">
                          <a:solidFill>
                            <a:srgbClr val="333333"/>
                          </a:solidFill>
                          <a:latin typeface="Calibri"/>
                        </a:rPr>
                        <a:t>Face detection / recognition</a:t>
                      </a:r>
                      <a:endParaRPr sz="1150" b="1">
                        <a:solidFill>
                          <a:srgbClr val="333333"/>
                        </a:solidFill>
                        <a:latin typeface="Calibri"/>
                      </a:endParaRPr>
                    </a:p>
                  </a:txBody>
                  <a:tcPr marL="73152" marR="54864" marT="25400" marB="254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150" b="0">
                          <a:solidFill>
                            <a:srgbClr val="333333"/>
                          </a:solidFill>
                          <a:latin typeface="Calibri"/>
                        </a:rPr>
                        <a:t>1,882</a:t>
                      </a:r>
                      <a:endParaRPr sz="1150" b="0">
                        <a:solidFill>
                          <a:srgbClr val="333333"/>
                        </a:solidFill>
                        <a:latin typeface="Calibri"/>
                      </a:endParaRPr>
                    </a:p>
                  </a:txBody>
                  <a:tcPr marL="73152" marR="54864" marT="25400" marB="254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150" b="0">
                          <a:solidFill>
                            <a:srgbClr val="333333"/>
                          </a:solidFill>
                          <a:latin typeface="Calibri"/>
                        </a:rPr>
                        <a:t>1,850</a:t>
                      </a:r>
                      <a:endParaRPr sz="1150" b="0">
                        <a:solidFill>
                          <a:srgbClr val="333333"/>
                        </a:solidFill>
                        <a:latin typeface="Calibri"/>
                      </a:endParaRPr>
                    </a:p>
                  </a:txBody>
                  <a:tcPr marL="73152" marR="54864" marT="25400" marB="254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150" b="0">
                          <a:solidFill>
                            <a:srgbClr val="333333"/>
                          </a:solidFill>
                          <a:latin typeface="Calibri"/>
                        </a:rPr>
                        <a:t>GPU</a:t>
                      </a:r>
                      <a:endParaRPr sz="1150" b="0">
                        <a:solidFill>
                          <a:srgbClr val="333333"/>
                        </a:solidFill>
                        <a:latin typeface="Calibri"/>
                      </a:endParaRPr>
                    </a:p>
                  </a:txBody>
                  <a:tcPr marL="73152" marR="54864" marT="25400" marB="25400" anchor="ctr">
                    <a:solidFill>
                      <a:srgbClr val="FFFFFF"/>
                    </a:solidFill>
                  </a:tcPr>
                </a:tc>
              </a:tr>
              <a:tr h="288036">
                <a:tc>
                  <a:txBody>
                    <a:bodyPr/>
                    <a:lstStyle/>
                    <a:p>
                      <a:pPr algn="l"/>
                      <a:r>
                        <a:rPr sz="1150" b="1">
                          <a:solidFill>
                            <a:srgbClr val="333333"/>
                          </a:solidFill>
                          <a:latin typeface="Calibri"/>
                        </a:rPr>
                        <a:t>Face clustering</a:t>
                      </a:r>
                      <a:endParaRPr sz="1150" b="1">
                        <a:solidFill>
                          <a:srgbClr val="333333"/>
                        </a:solidFill>
                        <a:latin typeface="Calibri"/>
                      </a:endParaRPr>
                    </a:p>
                  </a:txBody>
                  <a:tcPr marL="73152" marR="54864" marT="25400" marB="25400" anchor="ctr"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150" b="0">
                          <a:solidFill>
                            <a:srgbClr val="333333"/>
                          </a:solidFill>
                          <a:latin typeface="Calibri"/>
                        </a:rPr>
                        <a:t>4.5</a:t>
                      </a:r>
                      <a:endParaRPr sz="1150" b="0">
                        <a:solidFill>
                          <a:srgbClr val="333333"/>
                        </a:solidFill>
                        <a:latin typeface="Calibri"/>
                      </a:endParaRPr>
                    </a:p>
                  </a:txBody>
                  <a:tcPr marL="73152" marR="54864" marT="25400" marB="25400" anchor="ctr"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150" b="0">
                          <a:solidFill>
                            <a:srgbClr val="333333"/>
                          </a:solidFill>
                          <a:latin typeface="Calibri"/>
                        </a:rPr>
                        <a:t>4.5</a:t>
                      </a:r>
                      <a:endParaRPr sz="1150" b="0">
                        <a:solidFill>
                          <a:srgbClr val="333333"/>
                        </a:solidFill>
                        <a:latin typeface="Calibri"/>
                      </a:endParaRPr>
                    </a:p>
                  </a:txBody>
                  <a:tcPr marL="73152" marR="54864" marT="25400" marB="25400" anchor="ctr"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endParaRPr sz="1150" b="0">
                        <a:solidFill>
                          <a:srgbClr val="333333"/>
                        </a:solidFill>
                        <a:latin typeface="Calibri"/>
                      </a:endParaRPr>
                    </a:p>
                  </a:txBody>
                  <a:tcPr marL="73152" marR="54864" marT="25400" marB="25400" anchor="ctr">
                    <a:solidFill>
                      <a:srgbClr val="F2F6FA"/>
                    </a:solidFill>
                  </a:tcPr>
                </a:tc>
              </a:tr>
              <a:tr h="288036">
                <a:tc>
                  <a:txBody>
                    <a:bodyPr/>
                    <a:lstStyle/>
                    <a:p>
                      <a:pPr algn="l"/>
                      <a:r>
                        <a:rPr sz="1150" b="1">
                          <a:solidFill>
                            <a:srgbClr val="333333"/>
                          </a:solidFill>
                          <a:latin typeface="Calibri"/>
                        </a:rPr>
                        <a:t>VLM context preparation</a:t>
                      </a:r>
                      <a:endParaRPr sz="1150" b="1">
                        <a:solidFill>
                          <a:srgbClr val="333333"/>
                        </a:solidFill>
                        <a:latin typeface="Calibri"/>
                      </a:endParaRPr>
                    </a:p>
                  </a:txBody>
                  <a:tcPr marL="73152" marR="54864" marT="25400" marB="254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150" b="0">
                          <a:solidFill>
                            <a:srgbClr val="333333"/>
                          </a:solidFill>
                          <a:latin typeface="Calibri"/>
                        </a:rPr>
                        <a:t>1.4</a:t>
                      </a:r>
                      <a:endParaRPr sz="1150" b="0">
                        <a:solidFill>
                          <a:srgbClr val="333333"/>
                        </a:solidFill>
                        <a:latin typeface="Calibri"/>
                      </a:endParaRPr>
                    </a:p>
                  </a:txBody>
                  <a:tcPr marL="73152" marR="54864" marT="25400" marB="254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150" b="0">
                          <a:solidFill>
                            <a:srgbClr val="333333"/>
                          </a:solidFill>
                          <a:latin typeface="Calibri"/>
                        </a:rPr>
                        <a:t>1.5</a:t>
                      </a:r>
                      <a:endParaRPr sz="1150" b="0">
                        <a:solidFill>
                          <a:srgbClr val="333333"/>
                        </a:solidFill>
                        <a:latin typeface="Calibri"/>
                      </a:endParaRPr>
                    </a:p>
                  </a:txBody>
                  <a:tcPr marL="73152" marR="54864" marT="25400" marB="254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endParaRPr sz="1150" b="0">
                        <a:solidFill>
                          <a:srgbClr val="333333"/>
                        </a:solidFill>
                        <a:latin typeface="Calibri"/>
                      </a:endParaRPr>
                    </a:p>
                  </a:txBody>
                  <a:tcPr marL="73152" marR="54864" marT="25400" marB="25400" anchor="ctr">
                    <a:solidFill>
                      <a:srgbClr val="FFFFFF"/>
                    </a:solidFill>
                  </a:tcPr>
                </a:tc>
              </a:tr>
              <a:tr h="288036">
                <a:tc>
                  <a:txBody>
                    <a:bodyPr/>
                    <a:lstStyle/>
                    <a:p>
                      <a:pPr algn="l"/>
                      <a:r>
                        <a:rPr sz="1150" b="1">
                          <a:solidFill>
                            <a:srgbClr val="333333"/>
                          </a:solidFill>
                          <a:latin typeface="Calibri"/>
                        </a:rPr>
                        <a:t>Terra memory generation</a:t>
                      </a:r>
                      <a:endParaRPr sz="1150" b="1">
                        <a:solidFill>
                          <a:srgbClr val="333333"/>
                        </a:solidFill>
                        <a:latin typeface="Calibri"/>
                      </a:endParaRPr>
                    </a:p>
                  </a:txBody>
                  <a:tcPr marL="73152" marR="54864" marT="25400" marB="25400" anchor="ctr"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150" b="0">
                          <a:solidFill>
                            <a:srgbClr val="333333"/>
                          </a:solidFill>
                          <a:latin typeface="Calibri"/>
                        </a:rPr>
                        <a:t>14,496</a:t>
                      </a:r>
                      <a:endParaRPr sz="1150" b="0">
                        <a:solidFill>
                          <a:srgbClr val="333333"/>
                        </a:solidFill>
                        <a:latin typeface="Calibri"/>
                      </a:endParaRPr>
                    </a:p>
                  </a:txBody>
                  <a:tcPr marL="73152" marR="54864" marT="25400" marB="25400" anchor="ctr"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150" b="0">
                          <a:solidFill>
                            <a:srgbClr val="333333"/>
                          </a:solidFill>
                          <a:latin typeface="Calibri"/>
                        </a:rPr>
                        <a:t>15,173</a:t>
                      </a:r>
                      <a:endParaRPr sz="1150" b="0">
                        <a:solidFill>
                          <a:srgbClr val="333333"/>
                        </a:solidFill>
                        <a:latin typeface="Calibri"/>
                      </a:endParaRPr>
                    </a:p>
                  </a:txBody>
                  <a:tcPr marL="73152" marR="54864" marT="25400" marB="25400" anchor="ctr"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150" b="0">
                          <a:solidFill>
                            <a:srgbClr val="333333"/>
                          </a:solidFill>
                          <a:latin typeface="Calibri"/>
                        </a:rPr>
                        <a:t>gpt-5.6-terra, P95 21.5–40.9 s</a:t>
                      </a:r>
                      <a:endParaRPr sz="1150" b="0">
                        <a:solidFill>
                          <a:srgbClr val="333333"/>
                        </a:solidFill>
                        <a:latin typeface="Calibri"/>
                      </a:endParaRPr>
                    </a:p>
                  </a:txBody>
                  <a:tcPr marL="73152" marR="54864" marT="25400" marB="25400" anchor="ctr">
                    <a:solidFill>
                      <a:srgbClr val="F2F6FA"/>
                    </a:solidFill>
                  </a:tcPr>
                </a:tc>
              </a:tr>
              <a:tr h="288036">
                <a:tc>
                  <a:txBody>
                    <a:bodyPr/>
                    <a:lstStyle/>
                    <a:p>
                      <a:pPr algn="l"/>
                      <a:r>
                        <a:rPr sz="1150" b="1">
                          <a:solidFill>
                            <a:srgbClr val="333333"/>
                          </a:solidFill>
                          <a:latin typeface="Calibri"/>
                        </a:rPr>
                        <a:t>Memory text embedding</a:t>
                      </a:r>
                      <a:endParaRPr sz="1150" b="1">
                        <a:solidFill>
                          <a:srgbClr val="333333"/>
                        </a:solidFill>
                        <a:latin typeface="Calibri"/>
                      </a:endParaRPr>
                    </a:p>
                  </a:txBody>
                  <a:tcPr marL="73152" marR="54864" marT="25400" marB="254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150" b="0">
                          <a:solidFill>
                            <a:srgbClr val="333333"/>
                          </a:solidFill>
                          <a:latin typeface="Calibri"/>
                        </a:rPr>
                        <a:t>620</a:t>
                      </a:r>
                      <a:endParaRPr sz="1150" b="0">
                        <a:solidFill>
                          <a:srgbClr val="333333"/>
                        </a:solidFill>
                        <a:latin typeface="Calibri"/>
                      </a:endParaRPr>
                    </a:p>
                  </a:txBody>
                  <a:tcPr marL="73152" marR="54864" marT="25400" marB="254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150" b="0">
                          <a:solidFill>
                            <a:srgbClr val="333333"/>
                          </a:solidFill>
                          <a:latin typeface="Calibri"/>
                        </a:rPr>
                        <a:t>577</a:t>
                      </a:r>
                      <a:endParaRPr sz="1150" b="0">
                        <a:solidFill>
                          <a:srgbClr val="333333"/>
                        </a:solidFill>
                        <a:latin typeface="Calibri"/>
                      </a:endParaRPr>
                    </a:p>
                  </a:txBody>
                  <a:tcPr marL="73152" marR="54864" marT="25400" marB="254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150" b="0">
                          <a:solidFill>
                            <a:srgbClr val="333333"/>
                          </a:solidFill>
                          <a:latin typeface="Calibri"/>
                        </a:rPr>
                        <a:t>text-embedding-3-large</a:t>
                      </a:r>
                      <a:endParaRPr sz="1150" b="0">
                        <a:solidFill>
                          <a:srgbClr val="333333"/>
                        </a:solidFill>
                        <a:latin typeface="Calibri"/>
                      </a:endParaRPr>
                    </a:p>
                  </a:txBody>
                  <a:tcPr marL="73152" marR="54864" marT="25400" marB="25400" anchor="ctr">
                    <a:solidFill>
                      <a:srgbClr val="FFFFFF"/>
                    </a:solidFill>
                  </a:tcPr>
                </a:tc>
              </a:tr>
              <a:tr h="288036">
                <a:tc>
                  <a:txBody>
                    <a:bodyPr/>
                    <a:lstStyle/>
                    <a:p>
                      <a:pPr algn="l"/>
                      <a:r>
                        <a:rPr sz="1150" b="1">
                          <a:solidFill>
                            <a:srgbClr val="333333"/>
                          </a:solidFill>
                          <a:latin typeface="Calibri"/>
                        </a:rPr>
                        <a:t>Graph update</a:t>
                      </a:r>
                      <a:endParaRPr sz="1150" b="1">
                        <a:solidFill>
                          <a:srgbClr val="333333"/>
                        </a:solidFill>
                        <a:latin typeface="Calibri"/>
                      </a:endParaRPr>
                    </a:p>
                  </a:txBody>
                  <a:tcPr marL="73152" marR="54864" marT="25400" marB="25400" anchor="ctr"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150" b="0">
                          <a:solidFill>
                            <a:srgbClr val="333333"/>
                          </a:solidFill>
                          <a:latin typeface="Calibri"/>
                        </a:rPr>
                        <a:t>4.2</a:t>
                      </a:r>
                      <a:endParaRPr sz="1150" b="0">
                        <a:solidFill>
                          <a:srgbClr val="333333"/>
                        </a:solidFill>
                        <a:latin typeface="Calibri"/>
                      </a:endParaRPr>
                    </a:p>
                  </a:txBody>
                  <a:tcPr marL="73152" marR="54864" marT="25400" marB="25400" anchor="ctr"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150" b="0">
                          <a:solidFill>
                            <a:srgbClr val="333333"/>
                          </a:solidFill>
                          <a:latin typeface="Calibri"/>
                        </a:rPr>
                        <a:t>10.8</a:t>
                      </a:r>
                      <a:endParaRPr sz="1150" b="0">
                        <a:solidFill>
                          <a:srgbClr val="333333"/>
                        </a:solidFill>
                        <a:latin typeface="Calibri"/>
                      </a:endParaRPr>
                    </a:p>
                  </a:txBody>
                  <a:tcPr marL="73152" marR="54864" marT="25400" marB="25400" anchor="ctr"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endParaRPr sz="1150" b="0">
                        <a:solidFill>
                          <a:srgbClr val="333333"/>
                        </a:solidFill>
                        <a:latin typeface="Calibri"/>
                      </a:endParaRPr>
                    </a:p>
                  </a:txBody>
                  <a:tcPr marL="73152" marR="54864" marT="25400" marB="25400" anchor="ctr">
                    <a:solidFill>
                      <a:srgbClr val="F2F6FA"/>
                    </a:solidFill>
                  </a:tcPr>
                </a:tc>
              </a:tr>
              <a:tr h="288036">
                <a:tc>
                  <a:txBody>
                    <a:bodyPr/>
                    <a:lstStyle/>
                    <a:p>
                      <a:pPr algn="l"/>
                      <a:r>
                        <a:rPr sz="1150" b="1">
                          <a:solidFill>
                            <a:srgbClr val="112D4E"/>
                          </a:solidFill>
                          <a:latin typeface="Calibri"/>
                        </a:rPr>
                        <a:t>Admission → commit wall</a:t>
                      </a:r>
                      <a:endParaRPr sz="1150" b="1">
                        <a:solidFill>
                          <a:srgbClr val="112D4E"/>
                        </a:solidFill>
                        <a:latin typeface="Calibri"/>
                      </a:endParaRPr>
                    </a:p>
                  </a:txBody>
                  <a:tcPr marL="73152" marR="54864" marT="25400" marB="254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150" b="1">
                          <a:solidFill>
                            <a:srgbClr val="112D4E"/>
                          </a:solidFill>
                          <a:latin typeface="Calibri"/>
                        </a:rPr>
                        <a:t>17,209</a:t>
                      </a:r>
                      <a:endParaRPr sz="1150" b="1">
                        <a:solidFill>
                          <a:srgbClr val="112D4E"/>
                        </a:solidFill>
                        <a:latin typeface="Calibri"/>
                      </a:endParaRPr>
                    </a:p>
                  </a:txBody>
                  <a:tcPr marL="73152" marR="54864" marT="25400" marB="254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150" b="1">
                          <a:solidFill>
                            <a:srgbClr val="112D4E"/>
                          </a:solidFill>
                          <a:latin typeface="Calibri"/>
                        </a:rPr>
                        <a:t>17,763</a:t>
                      </a:r>
                      <a:endParaRPr sz="1150" b="1">
                        <a:solidFill>
                          <a:srgbClr val="112D4E"/>
                        </a:solidFill>
                        <a:latin typeface="Calibri"/>
                      </a:endParaRPr>
                    </a:p>
                  </a:txBody>
                  <a:tcPr marL="73152" marR="54864" marT="25400" marB="254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150" b="1">
                          <a:solidFill>
                            <a:srgbClr val="112D4E"/>
                          </a:solidFill>
                          <a:latin typeface="Calibri"/>
                        </a:rPr>
                        <a:t>End-to-end per clip</a:t>
                      </a:r>
                      <a:endParaRPr sz="1150" b="1">
                        <a:solidFill>
                          <a:srgbClr val="112D4E"/>
                        </a:solidFill>
                        <a:latin typeface="Calibri"/>
                      </a:endParaRPr>
                    </a:p>
                  </a:txBody>
                  <a:tcPr marL="73152" marR="54864" marT="25400" marB="25400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1643055" y="6537960"/>
            <a:ext cx="4572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>
                <a:solidFill>
                  <a:srgbClr val="5A6A7A"/>
                </a:solidFill>
                <a:latin typeface="Calibri"/>
              </a:rPr>
              <a:t>7</a:t>
            </a:r>
            <a:endParaRPr sz="1000">
              <a:solidFill>
                <a:srgbClr val="5A6A7A"/>
              </a:solidFill>
              <a:latin typeface="Calibri"/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411480" y="201168"/>
            <a:ext cx="98755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3000" b="1">
                <a:solidFill>
                  <a:srgbClr val="112D4E"/>
                </a:solidFill>
                <a:latin typeface="Calibri"/>
              </a:rPr>
              <a:t>Memory retrieval latency — warm path breakdown</a:t>
            </a:r>
            <a:endParaRPr sz="3000" b="1">
              <a:solidFill>
                <a:srgbClr val="112D4E"/>
              </a:solidFill>
              <a:latin typeface="Calibri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9814255" y="320040"/>
            <a:ext cx="20116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lnSpc>
                <a:spcPct val="100000"/>
              </a:lnSpc>
              <a:spcAft>
                <a:spcPts val="400"/>
              </a:spcAft>
            </a:pPr>
            <a:r>
              <a:rPr sz="1300" b="1">
                <a:solidFill>
                  <a:srgbClr val="2E6DA4"/>
                </a:solidFill>
                <a:latin typeface="Calibri"/>
              </a:rPr>
              <a:t>RESULTS · RETRIEVAL</a:t>
            </a:r>
            <a:endParaRPr sz="1300" b="1">
              <a:solidFill>
                <a:srgbClr val="2E6DA4"/>
              </a:solidFill>
              <a:latin typeface="Calibri"/>
            </a:endParaRPr>
          </a:p>
        </p:txBody>
      </p:sp>
      <p:sp>
        <p:nvSpPr>
          <p:cNvPr id="5" name="Rectangle 4"/>
          <p:cNvSpPr/>
          <p:nvPr/>
        </p:nvSpPr>
        <p:spPr>
          <a:xfrm>
            <a:off x="411480" y="896112"/>
            <a:ext cx="11368735" cy="475488"/>
          </a:xfrm>
          <a:prstGeom prst="rect">
            <a:avLst/>
          </a:prstGeom>
          <a:noFill/>
          <a:ln w="12700">
            <a:solidFill>
              <a:srgbClr val="C9D4D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9728" tIns="54864" bIns="36576" rtlCol="0" anchor="ctr"/>
          <a:lstStyle/>
          <a:p>
            <a:pPr algn="ctr"/>
            <a:r>
              <a:rPr sz="1350">
                <a:solidFill>
                  <a:srgbClr val="5A6A7A"/>
                </a:solidFill>
                <a:latin typeface="Calibri"/>
              </a:rPr>
              <a:t>Four completed Jake questions per method; C1–C3 averaged (C4 equal within noise). One-time index construction excluded.</a:t>
            </a:r>
            <a:endParaRPr sz="1350">
              <a:solidFill>
                <a:srgbClr val="5A6A7A"/>
              </a:solidFill>
              <a:latin typeface="Calibri"/>
            </a:endParaRPr>
          </a:p>
        </p:txBody>
      </p:sp>
      <p:sp>
        <p:nvSpPr>
          <p:cNvPr id="6" name="Rectangle 5"/>
          <p:cNvSpPr/>
          <p:nvPr/>
        </p:nvSpPr>
        <p:spPr>
          <a:xfrm>
            <a:off x="411480" y="1481328"/>
            <a:ext cx="11368735" cy="19050"/>
          </a:xfrm>
          <a:prstGeom prst="rect">
            <a:avLst/>
          </a:prstGeom>
          <a:solidFill>
            <a:srgbClr val="C9D4D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411480" y="1645920"/>
            <a:ext cx="3657600" cy="1005840"/>
          </a:xfrm>
          <a:prstGeom prst="roundRect">
            <a:avLst>
              <a:gd name="adj" fmla="val 8000"/>
            </a:avLst>
          </a:prstGeom>
          <a:solidFill>
            <a:srgbClr val="EAF1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64592" tIns="91440" rtlCol="0" anchor="ctr"/>
          <a:lstStyle/>
          <a:p>
            <a:pPr algn="ctr">
              <a:spcAft>
                <a:spcPts val="200"/>
              </a:spcAft>
            </a:pPr>
            <a:r>
              <a:rPr sz="1300" b="1">
                <a:solidFill>
                  <a:srgbClr val="112D4E"/>
                </a:solidFill>
                <a:latin typeface="Calibri"/>
              </a:rPr>
              <a:t>R1 warm retrieval</a:t>
            </a:r>
            <a:endParaRPr sz="1300" b="1">
              <a:solidFill>
                <a:srgbClr val="112D4E"/>
              </a:solidFill>
              <a:latin typeface="Calibri"/>
            </a:endParaRPr>
          </a:p>
          <a:p>
            <a:pPr>
              <a:spcAft>
                <a:spcPts val="200"/>
              </a:spcAft>
            </a:pPr>
            <a:r>
              <a:rPr sz="2400" b="1">
                <a:solidFill>
                  <a:srgbClr val="2E6DA4"/>
                </a:solidFill>
                <a:latin typeface="Calibri"/>
              </a:rPr>
              <a:t>≈ 668 ms</a:t>
            </a:r>
            <a:endParaRPr sz="2400" b="1">
              <a:solidFill>
                <a:srgbClr val="2E6DA4"/>
              </a:solidFill>
              <a:latin typeface="Calibri"/>
            </a:endParaRPr>
          </a:p>
          <a:p>
            <a:pPr>
              <a:spcAft>
                <a:spcPts val="200"/>
              </a:spcAft>
            </a:pPr>
            <a:r>
              <a:rPr sz="1100" b="0">
                <a:solidFill>
                  <a:srgbClr val="5A6A7A"/>
                </a:solidFill>
                <a:latin typeface="Calibri"/>
              </a:rPr>
              <a:t>Native M3: embedding + vector search dominate</a:t>
            </a:r>
            <a:endParaRPr sz="1100" b="0">
              <a:solidFill>
                <a:srgbClr val="5A6A7A"/>
              </a:solidFill>
              <a:latin typeface="Calibri"/>
            </a:endParaRPr>
          </a:p>
        </p:txBody>
      </p:sp>
      <p:sp>
        <p:nvSpPr>
          <p:cNvPr id="8" name="Rounded Rectangle 7"/>
          <p:cNvSpPr/>
          <p:nvPr/>
        </p:nvSpPr>
        <p:spPr>
          <a:xfrm>
            <a:off x="4251960" y="1645920"/>
            <a:ext cx="3657600" cy="1005840"/>
          </a:xfrm>
          <a:prstGeom prst="roundRect">
            <a:avLst>
              <a:gd name="adj" fmla="val 8000"/>
            </a:avLst>
          </a:prstGeom>
          <a:solidFill>
            <a:srgbClr val="EAF6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64592" tIns="91440" rtlCol="0" anchor="ctr"/>
          <a:lstStyle/>
          <a:p>
            <a:pPr algn="ctr">
              <a:spcAft>
                <a:spcPts val="200"/>
              </a:spcAft>
            </a:pPr>
            <a:r>
              <a:rPr sz="1300" b="1">
                <a:solidFill>
                  <a:srgbClr val="112D4E"/>
                </a:solidFill>
                <a:latin typeface="Calibri"/>
              </a:rPr>
              <a:t>R2 warm retrieval</a:t>
            </a:r>
            <a:endParaRPr sz="1300" b="1">
              <a:solidFill>
                <a:srgbClr val="112D4E"/>
              </a:solidFill>
              <a:latin typeface="Calibri"/>
            </a:endParaRPr>
          </a:p>
          <a:p>
            <a:pPr>
              <a:spcAft>
                <a:spcPts val="200"/>
              </a:spcAft>
            </a:pPr>
            <a:r>
              <a:rPr sz="2400" b="1">
                <a:solidFill>
                  <a:srgbClr val="2E7D4F"/>
                </a:solidFill>
                <a:latin typeface="Calibri"/>
              </a:rPr>
              <a:t>≈ 2,954 ms</a:t>
            </a:r>
            <a:endParaRPr sz="2400" b="1">
              <a:solidFill>
                <a:srgbClr val="2E7D4F"/>
              </a:solidFill>
              <a:latin typeface="Calibri"/>
            </a:endParaRPr>
          </a:p>
          <a:p>
            <a:pPr>
              <a:spcAft>
                <a:spcPts val="200"/>
              </a:spcAft>
            </a:pPr>
            <a:r>
              <a:rPr sz="1100" b="0">
                <a:solidFill>
                  <a:srgbClr val="5A6A7A"/>
                </a:solidFill>
                <a:latin typeface="Calibri"/>
              </a:rPr>
              <a:t>Mandol hybrid: dense embed + 302 rerank dominate</a:t>
            </a:r>
            <a:endParaRPr sz="1100" b="0">
              <a:solidFill>
                <a:srgbClr val="5A6A7A"/>
              </a:solidFill>
              <a:latin typeface="Calibri"/>
            </a:endParaRPr>
          </a:p>
        </p:txBody>
      </p:sp>
      <p:sp>
        <p:nvSpPr>
          <p:cNvPr id="9" name="Rounded Rectangle 8"/>
          <p:cNvSpPr/>
          <p:nvPr/>
        </p:nvSpPr>
        <p:spPr>
          <a:xfrm>
            <a:off x="8092440" y="1645920"/>
            <a:ext cx="3657600" cy="1005840"/>
          </a:xfrm>
          <a:prstGeom prst="roundRect">
            <a:avLst>
              <a:gd name="adj" fmla="val 8000"/>
            </a:avLst>
          </a:prstGeom>
          <a:solidFill>
            <a:srgbClr val="FDF3E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64592" tIns="91440" rtlCol="0" anchor="ctr"/>
          <a:lstStyle/>
          <a:p>
            <a:pPr algn="ctr">
              <a:spcAft>
                <a:spcPts val="200"/>
              </a:spcAft>
            </a:pPr>
            <a:r>
              <a:rPr sz="1300" b="1">
                <a:solidFill>
                  <a:srgbClr val="112D4E"/>
                </a:solidFill>
                <a:latin typeface="Calibri"/>
              </a:rPr>
              <a:t>Answer TTFT</a:t>
            </a:r>
            <a:endParaRPr sz="1300" b="1">
              <a:solidFill>
                <a:srgbClr val="112D4E"/>
              </a:solidFill>
              <a:latin typeface="Calibri"/>
            </a:endParaRPr>
          </a:p>
          <a:p>
            <a:pPr>
              <a:spcAft>
                <a:spcPts val="200"/>
              </a:spcAft>
            </a:pPr>
            <a:r>
              <a:rPr sz="2400" b="1">
                <a:solidFill>
                  <a:srgbClr val="B47A1E"/>
                </a:solidFill>
                <a:latin typeface="Calibri"/>
              </a:rPr>
              <a:t>3,095 / 1,037 ms</a:t>
            </a:r>
            <a:endParaRPr sz="2400" b="1">
              <a:solidFill>
                <a:srgbClr val="B47A1E"/>
              </a:solidFill>
              <a:latin typeface="Calibri"/>
            </a:endParaRPr>
          </a:p>
          <a:p>
            <a:pPr>
              <a:spcAft>
                <a:spcPts val="200"/>
              </a:spcAft>
            </a:pPr>
            <a:r>
              <a:rPr sz="1100" b="0">
                <a:solidFill>
                  <a:srgbClr val="5A6A7A"/>
                </a:solidFill>
                <a:latin typeface="Calibri"/>
              </a:rPr>
              <a:t>R1 / R2 time to first streamed token</a:t>
            </a:r>
            <a:endParaRPr sz="1100" b="0">
              <a:solidFill>
                <a:srgbClr val="5A6A7A"/>
              </a:solidFill>
              <a:latin typeface="Calibri"/>
            </a:endParaRPr>
          </a:p>
        </p:txBody>
      </p:sp>
      <p:graphicFrame>
        <p:nvGraphicFramePr>
          <p:cNvPr id="10" name="Table 9"/>
          <p:cNvGraphicFramePr>
            <a:graphicFrameLocks noGrp="1"/>
          </p:cNvGraphicFramePr>
          <p:nvPr/>
        </p:nvGraphicFramePr>
        <p:xfrm>
          <a:off x="411480" y="2834640"/>
          <a:ext cx="11384280" cy="3168396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5486400"/>
                <a:gridCol w="2743200"/>
                <a:gridCol w="3154680"/>
              </a:tblGrid>
              <a:tr h="288036">
                <a:tc>
                  <a:txBody>
                    <a:bodyPr/>
                    <a:lstStyle/>
                    <a:p>
                      <a:pPr algn="l"/>
                      <a:r>
                        <a:rPr sz="1300" b="1">
                          <a:solidFill>
                            <a:srgbClr val="112D4E"/>
                          </a:solidFill>
                          <a:latin typeface="Calibri"/>
                        </a:rPr>
                        <a:t>Stage (mean ms)</a:t>
                      </a:r>
                      <a:endParaRPr sz="1300" b="1">
                        <a:solidFill>
                          <a:srgbClr val="112D4E"/>
                        </a:solidFill>
                        <a:latin typeface="Calibri"/>
                      </a:endParaRPr>
                    </a:p>
                  </a:txBody>
                  <a:tcPr marL="73152" marR="54864" marT="25400" marB="254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300" b="1">
                          <a:solidFill>
                            <a:srgbClr val="112D4E"/>
                          </a:solidFill>
                          <a:latin typeface="Calibri"/>
                        </a:rPr>
                        <a:t>R1 · native</a:t>
                      </a:r>
                      <a:endParaRPr sz="1300" b="1">
                        <a:solidFill>
                          <a:srgbClr val="112D4E"/>
                        </a:solidFill>
                        <a:latin typeface="Calibri"/>
                      </a:endParaRPr>
                    </a:p>
                  </a:txBody>
                  <a:tcPr marL="73152" marR="54864" marT="25400" marB="254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300" b="1">
                          <a:solidFill>
                            <a:srgbClr val="112D4E"/>
                          </a:solidFill>
                          <a:latin typeface="Calibri"/>
                        </a:rPr>
                        <a:t>R2 · Mandol hybrid</a:t>
                      </a:r>
                      <a:endParaRPr sz="1300" b="1">
                        <a:solidFill>
                          <a:srgbClr val="112D4E"/>
                        </a:solidFill>
                        <a:latin typeface="Calibri"/>
                      </a:endParaRPr>
                    </a:p>
                  </a:txBody>
                  <a:tcPr marL="73152" marR="54864" marT="25400" marB="25400" anchor="ctr">
                    <a:solidFill>
                      <a:srgbClr val="FFFFFF"/>
                    </a:solidFill>
                  </a:tcPr>
                </a:tc>
              </a:tr>
              <a:tr h="288036">
                <a:tc>
                  <a:txBody>
                    <a:bodyPr/>
                    <a:lstStyle/>
                    <a:p>
                      <a:pPr algn="l"/>
                      <a:r>
                        <a:rPr sz="1150" b="1">
                          <a:solidFill>
                            <a:srgbClr val="333333"/>
                          </a:solidFill>
                          <a:latin typeface="Calibri"/>
                        </a:rPr>
                        <a:t>Query text / dense embedding</a:t>
                      </a:r>
                      <a:endParaRPr sz="1150" b="1">
                        <a:solidFill>
                          <a:srgbClr val="333333"/>
                        </a:solidFill>
                        <a:latin typeface="Calibri"/>
                      </a:endParaRPr>
                    </a:p>
                  </a:txBody>
                  <a:tcPr marL="73152" marR="54864" marT="25400" marB="254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150" b="0">
                          <a:solidFill>
                            <a:srgbClr val="333333"/>
                          </a:solidFill>
                          <a:latin typeface="Calibri"/>
                        </a:rPr>
                        <a:t>402</a:t>
                      </a:r>
                      <a:endParaRPr sz="1150" b="0">
                        <a:solidFill>
                          <a:srgbClr val="333333"/>
                        </a:solidFill>
                        <a:latin typeface="Calibri"/>
                      </a:endParaRPr>
                    </a:p>
                  </a:txBody>
                  <a:tcPr marL="73152" marR="54864" marT="25400" marB="254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150" b="0">
                          <a:solidFill>
                            <a:srgbClr val="333333"/>
                          </a:solidFill>
                          <a:latin typeface="Calibri"/>
                        </a:rPr>
                        <a:t>1,475</a:t>
                      </a:r>
                      <a:endParaRPr sz="1150" b="0">
                        <a:solidFill>
                          <a:srgbClr val="333333"/>
                        </a:solidFill>
                        <a:latin typeface="Calibri"/>
                      </a:endParaRPr>
                    </a:p>
                  </a:txBody>
                  <a:tcPr marL="73152" marR="54864" marT="25400" marB="25400" anchor="ctr">
                    <a:solidFill>
                      <a:srgbClr val="FFFFFF"/>
                    </a:solidFill>
                  </a:tcPr>
                </a:tc>
              </a:tr>
              <a:tr h="288036">
                <a:tc>
                  <a:txBody>
                    <a:bodyPr/>
                    <a:lstStyle/>
                    <a:p>
                      <a:pPr algn="l"/>
                      <a:r>
                        <a:rPr sz="1150" b="1">
                          <a:solidFill>
                            <a:srgbClr val="333333"/>
                          </a:solidFill>
                          <a:latin typeface="Calibri"/>
                        </a:rPr>
                        <a:t>Dense vector search</a:t>
                      </a:r>
                      <a:endParaRPr sz="1150" b="1">
                        <a:solidFill>
                          <a:srgbClr val="333333"/>
                        </a:solidFill>
                        <a:latin typeface="Calibri"/>
                      </a:endParaRPr>
                    </a:p>
                  </a:txBody>
                  <a:tcPr marL="73152" marR="54864" marT="25400" marB="25400" anchor="ctr"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150" b="0">
                          <a:solidFill>
                            <a:srgbClr val="333333"/>
                          </a:solidFill>
                          <a:latin typeface="Calibri"/>
                        </a:rPr>
                        <a:t>120</a:t>
                      </a:r>
                      <a:endParaRPr sz="1150" b="0">
                        <a:solidFill>
                          <a:srgbClr val="333333"/>
                        </a:solidFill>
                        <a:latin typeface="Calibri"/>
                      </a:endParaRPr>
                    </a:p>
                  </a:txBody>
                  <a:tcPr marL="73152" marR="54864" marT="25400" marB="25400" anchor="ctr"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150" b="0">
                          <a:solidFill>
                            <a:srgbClr val="333333"/>
                          </a:solidFill>
                          <a:latin typeface="Calibri"/>
                        </a:rPr>
                        <a:t>—  (inside fusion)</a:t>
                      </a:r>
                      <a:endParaRPr sz="1150" b="0">
                        <a:solidFill>
                          <a:srgbClr val="333333"/>
                        </a:solidFill>
                        <a:latin typeface="Calibri"/>
                      </a:endParaRPr>
                    </a:p>
                  </a:txBody>
                  <a:tcPr marL="73152" marR="54864" marT="25400" marB="25400" anchor="ctr">
                    <a:solidFill>
                      <a:srgbClr val="F2F6FA"/>
                    </a:solidFill>
                  </a:tcPr>
                </a:tc>
              </a:tr>
              <a:tr h="288036">
                <a:tc>
                  <a:txBody>
                    <a:bodyPr/>
                    <a:lstStyle/>
                    <a:p>
                      <a:pPr algn="l"/>
                      <a:r>
                        <a:rPr sz="1150" b="1">
                          <a:solidFill>
                            <a:srgbClr val="333333"/>
                          </a:solidFill>
                          <a:latin typeface="Calibri"/>
                        </a:rPr>
                        <a:t>Hybrid dense + BM25 + SPLADE, RRF fusion</a:t>
                      </a:r>
                      <a:endParaRPr sz="1150" b="1">
                        <a:solidFill>
                          <a:srgbClr val="333333"/>
                        </a:solidFill>
                        <a:latin typeface="Calibri"/>
                      </a:endParaRPr>
                    </a:p>
                  </a:txBody>
                  <a:tcPr marL="73152" marR="54864" marT="25400" marB="254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150" b="0">
                          <a:solidFill>
                            <a:srgbClr val="333333"/>
                          </a:solidFill>
                          <a:latin typeface="Calibri"/>
                        </a:rPr>
                        <a:t>—</a:t>
                      </a:r>
                      <a:endParaRPr sz="1150" b="0">
                        <a:solidFill>
                          <a:srgbClr val="333333"/>
                        </a:solidFill>
                        <a:latin typeface="Calibri"/>
                      </a:endParaRPr>
                    </a:p>
                  </a:txBody>
                  <a:tcPr marL="73152" marR="54864" marT="25400" marB="254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150" b="0">
                          <a:solidFill>
                            <a:srgbClr val="333333"/>
                          </a:solidFill>
                          <a:latin typeface="Calibri"/>
                        </a:rPr>
                        <a:t>1,497</a:t>
                      </a:r>
                      <a:endParaRPr sz="1150" b="0">
                        <a:solidFill>
                          <a:srgbClr val="333333"/>
                        </a:solidFill>
                        <a:latin typeface="Calibri"/>
                      </a:endParaRPr>
                    </a:p>
                  </a:txBody>
                  <a:tcPr marL="73152" marR="54864" marT="25400" marB="25400" anchor="ctr">
                    <a:solidFill>
                      <a:srgbClr val="FFFFFF"/>
                    </a:solidFill>
                  </a:tcPr>
                </a:tc>
              </a:tr>
              <a:tr h="288036">
                <a:tc>
                  <a:txBody>
                    <a:bodyPr/>
                    <a:lstStyle/>
                    <a:p>
                      <a:pPr algn="l"/>
                      <a:r>
                        <a:rPr sz="1150" b="1">
                          <a:solidFill>
                            <a:srgbClr val="333333"/>
                          </a:solidFill>
                          <a:latin typeface="Calibri"/>
                        </a:rPr>
                        <a:t>StreamMeCo TMR scoring + node selection</a:t>
                      </a:r>
                      <a:endParaRPr sz="1150" b="1">
                        <a:solidFill>
                          <a:srgbClr val="333333"/>
                        </a:solidFill>
                        <a:latin typeface="Calibri"/>
                      </a:endParaRPr>
                    </a:p>
                  </a:txBody>
                  <a:tcPr marL="73152" marR="54864" marT="25400" marB="25400" anchor="ctr"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150" b="0">
                          <a:solidFill>
                            <a:srgbClr val="333333"/>
                          </a:solidFill>
                          <a:latin typeface="Calibri"/>
                        </a:rPr>
                        <a:t>2.6</a:t>
                      </a:r>
                      <a:endParaRPr sz="1150" b="0">
                        <a:solidFill>
                          <a:srgbClr val="333333"/>
                        </a:solidFill>
                        <a:latin typeface="Calibri"/>
                      </a:endParaRPr>
                    </a:p>
                  </a:txBody>
                  <a:tcPr marL="73152" marR="54864" marT="25400" marB="25400" anchor="ctr"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150" b="0">
                          <a:solidFill>
                            <a:srgbClr val="333333"/>
                          </a:solidFill>
                          <a:latin typeface="Calibri"/>
                        </a:rPr>
                        <a:t>—</a:t>
                      </a:r>
                      <a:endParaRPr sz="1150" b="0">
                        <a:solidFill>
                          <a:srgbClr val="333333"/>
                        </a:solidFill>
                        <a:latin typeface="Calibri"/>
                      </a:endParaRPr>
                    </a:p>
                  </a:txBody>
                  <a:tcPr marL="73152" marR="54864" marT="25400" marB="25400" anchor="ctr">
                    <a:solidFill>
                      <a:srgbClr val="F2F6FA"/>
                    </a:solidFill>
                  </a:tcPr>
                </a:tc>
              </a:tr>
              <a:tr h="288036">
                <a:tc>
                  <a:txBody>
                    <a:bodyPr/>
                    <a:lstStyle/>
                    <a:p>
                      <a:pPr algn="l"/>
                      <a:r>
                        <a:rPr sz="1150" b="1">
                          <a:solidFill>
                            <a:srgbClr val="333333"/>
                          </a:solidFill>
                          <a:latin typeface="Calibri"/>
                        </a:rPr>
                        <a:t>Reranking (Qwen3-0.6B via 302.AI)</a:t>
                      </a:r>
                      <a:endParaRPr sz="1150" b="1">
                        <a:solidFill>
                          <a:srgbClr val="333333"/>
                        </a:solidFill>
                        <a:latin typeface="Calibri"/>
                      </a:endParaRPr>
                    </a:p>
                  </a:txBody>
                  <a:tcPr marL="73152" marR="54864" marT="25400" marB="254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150" b="0">
                          <a:solidFill>
                            <a:srgbClr val="333333"/>
                          </a:solidFill>
                          <a:latin typeface="Calibri"/>
                        </a:rPr>
                        <a:t>0</a:t>
                      </a:r>
                      <a:endParaRPr sz="1150" b="0">
                        <a:solidFill>
                          <a:srgbClr val="333333"/>
                        </a:solidFill>
                        <a:latin typeface="Calibri"/>
                      </a:endParaRPr>
                    </a:p>
                  </a:txBody>
                  <a:tcPr marL="73152" marR="54864" marT="25400" marB="254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150" b="0">
                          <a:solidFill>
                            <a:srgbClr val="333333"/>
                          </a:solidFill>
                          <a:latin typeface="Calibri"/>
                        </a:rPr>
                        <a:t>1,454</a:t>
                      </a:r>
                      <a:endParaRPr sz="1150" b="0">
                        <a:solidFill>
                          <a:srgbClr val="333333"/>
                        </a:solidFill>
                        <a:latin typeface="Calibri"/>
                      </a:endParaRPr>
                    </a:p>
                  </a:txBody>
                  <a:tcPr marL="73152" marR="54864" marT="25400" marB="25400" anchor="ctr">
                    <a:solidFill>
                      <a:srgbClr val="FFFFFF"/>
                    </a:solidFill>
                  </a:tcPr>
                </a:tc>
              </a:tr>
              <a:tr h="288036">
                <a:tc>
                  <a:txBody>
                    <a:bodyPr/>
                    <a:lstStyle/>
                    <a:p>
                      <a:pPr algn="l"/>
                      <a:r>
                        <a:rPr sz="1150" b="1">
                          <a:solidFill>
                            <a:srgbClr val="333333"/>
                          </a:solidFill>
                          <a:latin typeface="Calibri"/>
                        </a:rPr>
                        <a:t>Result lookup</a:t>
                      </a:r>
                      <a:endParaRPr sz="1150" b="1">
                        <a:solidFill>
                          <a:srgbClr val="333333"/>
                        </a:solidFill>
                        <a:latin typeface="Calibri"/>
                      </a:endParaRPr>
                    </a:p>
                  </a:txBody>
                  <a:tcPr marL="73152" marR="54864" marT="25400" marB="25400" anchor="ctr"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150" b="0">
                          <a:solidFill>
                            <a:srgbClr val="333333"/>
                          </a:solidFill>
                          <a:latin typeface="Calibri"/>
                        </a:rPr>
                        <a:t>—</a:t>
                      </a:r>
                      <a:endParaRPr sz="1150" b="0">
                        <a:solidFill>
                          <a:srgbClr val="333333"/>
                        </a:solidFill>
                        <a:latin typeface="Calibri"/>
                      </a:endParaRPr>
                    </a:p>
                  </a:txBody>
                  <a:tcPr marL="73152" marR="54864" marT="25400" marB="25400" anchor="ctr"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150" b="0">
                          <a:solidFill>
                            <a:srgbClr val="333333"/>
                          </a:solidFill>
                          <a:latin typeface="Calibri"/>
                        </a:rPr>
                        <a:t>0.3</a:t>
                      </a:r>
                      <a:endParaRPr sz="1150" b="0">
                        <a:solidFill>
                          <a:srgbClr val="333333"/>
                        </a:solidFill>
                        <a:latin typeface="Calibri"/>
                      </a:endParaRPr>
                    </a:p>
                  </a:txBody>
                  <a:tcPr marL="73152" marR="54864" marT="25400" marB="25400" anchor="ctr">
                    <a:solidFill>
                      <a:srgbClr val="F2F6FA"/>
                    </a:solidFill>
                  </a:tcPr>
                </a:tc>
              </a:tr>
              <a:tr h="288036">
                <a:tc>
                  <a:txBody>
                    <a:bodyPr/>
                    <a:lstStyle/>
                    <a:p>
                      <a:pPr algn="l"/>
                      <a:r>
                        <a:rPr sz="1150" b="1">
                          <a:solidFill>
                            <a:srgbClr val="333333"/>
                          </a:solidFill>
                          <a:latin typeface="Calibri"/>
                        </a:rPr>
                        <a:t>Retrieval round total</a:t>
                      </a:r>
                      <a:endParaRPr sz="1150" b="1">
                        <a:solidFill>
                          <a:srgbClr val="333333"/>
                        </a:solidFill>
                        <a:latin typeface="Calibri"/>
                      </a:endParaRPr>
                    </a:p>
                  </a:txBody>
                  <a:tcPr marL="73152" marR="54864" marT="25400" marB="254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150" b="0">
                          <a:solidFill>
                            <a:srgbClr val="333333"/>
                          </a:solidFill>
                          <a:latin typeface="Calibri"/>
                        </a:rPr>
                        <a:t>526</a:t>
                      </a:r>
                      <a:endParaRPr sz="1150" b="0">
                        <a:solidFill>
                          <a:srgbClr val="333333"/>
                        </a:solidFill>
                        <a:latin typeface="Calibri"/>
                      </a:endParaRPr>
                    </a:p>
                  </a:txBody>
                  <a:tcPr marL="73152" marR="54864" marT="25400" marB="254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150" b="0">
                          <a:solidFill>
                            <a:srgbClr val="333333"/>
                          </a:solidFill>
                          <a:latin typeface="Calibri"/>
                        </a:rPr>
                        <a:t>2,954</a:t>
                      </a:r>
                      <a:endParaRPr sz="1150" b="0">
                        <a:solidFill>
                          <a:srgbClr val="333333"/>
                        </a:solidFill>
                        <a:latin typeface="Calibri"/>
                      </a:endParaRPr>
                    </a:p>
                  </a:txBody>
                  <a:tcPr marL="73152" marR="54864" marT="25400" marB="25400" anchor="ctr">
                    <a:solidFill>
                      <a:srgbClr val="FFFFFF"/>
                    </a:solidFill>
                  </a:tcPr>
                </a:tc>
              </a:tr>
              <a:tr h="288036">
                <a:tc>
                  <a:txBody>
                    <a:bodyPr/>
                    <a:lstStyle/>
                    <a:p>
                      <a:pPr algn="l"/>
                      <a:r>
                        <a:rPr sz="1150" b="1">
                          <a:solidFill>
                            <a:srgbClr val="333333"/>
                          </a:solidFill>
                          <a:latin typeface="Calibri"/>
                        </a:rPr>
                        <a:t>Answer TTFT (first token)</a:t>
                      </a:r>
                      <a:endParaRPr sz="1150" b="1">
                        <a:solidFill>
                          <a:srgbClr val="333333"/>
                        </a:solidFill>
                        <a:latin typeface="Calibri"/>
                      </a:endParaRPr>
                    </a:p>
                  </a:txBody>
                  <a:tcPr marL="73152" marR="54864" marT="25400" marB="25400" anchor="ctr">
                    <a:solidFill>
                      <a:srgbClr val="E4EEF7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150" b="0">
                          <a:solidFill>
                            <a:srgbClr val="333333"/>
                          </a:solidFill>
                          <a:latin typeface="Calibri"/>
                        </a:rPr>
                        <a:t>3,095</a:t>
                      </a:r>
                      <a:endParaRPr sz="1150" b="0">
                        <a:solidFill>
                          <a:srgbClr val="333333"/>
                        </a:solidFill>
                        <a:latin typeface="Calibri"/>
                      </a:endParaRPr>
                    </a:p>
                  </a:txBody>
                  <a:tcPr marL="73152" marR="54864" marT="25400" marB="25400" anchor="ctr">
                    <a:solidFill>
                      <a:srgbClr val="E4EEF7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150" b="0">
                          <a:solidFill>
                            <a:srgbClr val="333333"/>
                          </a:solidFill>
                          <a:latin typeface="Calibri"/>
                        </a:rPr>
                        <a:t>1,037</a:t>
                      </a:r>
                      <a:endParaRPr sz="1150" b="0">
                        <a:solidFill>
                          <a:srgbClr val="333333"/>
                        </a:solidFill>
                        <a:latin typeface="Calibri"/>
                      </a:endParaRPr>
                    </a:p>
                  </a:txBody>
                  <a:tcPr marL="73152" marR="54864" marT="25400" marB="25400" anchor="ctr">
                    <a:solidFill>
                      <a:srgbClr val="E4EEF7"/>
                    </a:solidFill>
                  </a:tcPr>
                </a:tc>
              </a:tr>
              <a:tr h="288036">
                <a:tc>
                  <a:txBody>
                    <a:bodyPr/>
                    <a:lstStyle/>
                    <a:p>
                      <a:pPr algn="l"/>
                      <a:r>
                        <a:rPr sz="1150" b="1">
                          <a:solidFill>
                            <a:srgbClr val="333333"/>
                          </a:solidFill>
                          <a:latin typeface="Calibri"/>
                        </a:rPr>
                        <a:t>Question → first token (incl. retrieval)</a:t>
                      </a:r>
                      <a:endParaRPr sz="1150" b="1">
                        <a:solidFill>
                          <a:srgbClr val="333333"/>
                        </a:solidFill>
                        <a:latin typeface="Calibri"/>
                      </a:endParaRPr>
                    </a:p>
                  </a:txBody>
                  <a:tcPr marL="73152" marR="54864" marT="25400" marB="254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150" b="0">
                          <a:solidFill>
                            <a:srgbClr val="333333"/>
                          </a:solidFill>
                          <a:latin typeface="Calibri"/>
                        </a:rPr>
                        <a:t>3,815</a:t>
                      </a:r>
                      <a:endParaRPr sz="1150" b="0">
                        <a:solidFill>
                          <a:srgbClr val="333333"/>
                        </a:solidFill>
                        <a:latin typeface="Calibri"/>
                      </a:endParaRPr>
                    </a:p>
                  </a:txBody>
                  <a:tcPr marL="73152" marR="54864" marT="25400" marB="254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150" b="0">
                          <a:solidFill>
                            <a:srgbClr val="333333"/>
                          </a:solidFill>
                          <a:latin typeface="Calibri"/>
                        </a:rPr>
                        <a:t>4,028</a:t>
                      </a:r>
                      <a:endParaRPr sz="1150" b="0">
                        <a:solidFill>
                          <a:srgbClr val="333333"/>
                        </a:solidFill>
                        <a:latin typeface="Calibri"/>
                      </a:endParaRPr>
                    </a:p>
                  </a:txBody>
                  <a:tcPr marL="73152" marR="54864" marT="25400" marB="25400" anchor="ctr">
                    <a:solidFill>
                      <a:srgbClr val="FFFFFF"/>
                    </a:solidFill>
                  </a:tcPr>
                </a:tc>
              </a:tr>
              <a:tr h="288036">
                <a:tc>
                  <a:txBody>
                    <a:bodyPr/>
                    <a:lstStyle/>
                    <a:p>
                      <a:pPr algn="l"/>
                      <a:r>
                        <a:rPr sz="1150" b="1">
                          <a:solidFill>
                            <a:srgbClr val="333333"/>
                          </a:solidFill>
                          <a:latin typeface="Calibri"/>
                        </a:rPr>
                        <a:t>Question → answer complete</a:t>
                      </a:r>
                      <a:endParaRPr sz="1150" b="1">
                        <a:solidFill>
                          <a:srgbClr val="333333"/>
                        </a:solidFill>
                        <a:latin typeface="Calibri"/>
                      </a:endParaRPr>
                    </a:p>
                  </a:txBody>
                  <a:tcPr marL="73152" marR="54864" marT="25400" marB="25400" anchor="ctr"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150" b="0">
                          <a:solidFill>
                            <a:srgbClr val="333333"/>
                          </a:solidFill>
                          <a:latin typeface="Calibri"/>
                        </a:rPr>
                        <a:t>4,540</a:t>
                      </a:r>
                      <a:endParaRPr sz="1150" b="0">
                        <a:solidFill>
                          <a:srgbClr val="333333"/>
                        </a:solidFill>
                        <a:latin typeface="Calibri"/>
                      </a:endParaRPr>
                    </a:p>
                  </a:txBody>
                  <a:tcPr marL="73152" marR="54864" marT="25400" marB="25400" anchor="ctr"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150" b="0">
                          <a:solidFill>
                            <a:srgbClr val="333333"/>
                          </a:solidFill>
                          <a:latin typeface="Calibri"/>
                        </a:rPr>
                        <a:t>4,581</a:t>
                      </a:r>
                      <a:endParaRPr sz="1150" b="0">
                        <a:solidFill>
                          <a:srgbClr val="333333"/>
                        </a:solidFill>
                        <a:latin typeface="Calibri"/>
                      </a:endParaRPr>
                    </a:p>
                  </a:txBody>
                  <a:tcPr marL="73152" marR="54864" marT="25400" marB="25400" anchor="ctr">
                    <a:solidFill>
                      <a:srgbClr val="F2F6FA"/>
                    </a:solidFill>
                  </a:tcPr>
                </a:tc>
              </a:tr>
            </a:tbl>
          </a:graphicData>
        </a:graphic>
      </p:graphicFrame>
      <p:sp>
        <p:nvSpPr>
          <p:cNvPr id="11" name="TextBox 10"/>
          <p:cNvSpPr txBox="1"/>
          <p:nvPr/>
        </p:nvSpPr>
        <p:spPr>
          <a:xfrm>
            <a:off x="411480" y="6263640"/>
            <a:ext cx="113385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200" b="0">
                <a:solidFill>
                  <a:srgbClr val="5A6A7A"/>
                </a:solidFill>
                <a:latin typeface="Calibri"/>
              </a:rPr>
              <a:t>R2's extra ≈2.3 s of retrieval buys different evidence (top-10 reranked units) and streams its first token ~3× faster.</a:t>
            </a:r>
            <a:endParaRPr sz="1200" b="0">
              <a:solidFill>
                <a:srgbClr val="5A6A7A"/>
              </a:solidFill>
              <a:latin typeface="Calibri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1643055" y="6537960"/>
            <a:ext cx="4572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>
                <a:solidFill>
                  <a:srgbClr val="5A6A7A"/>
                </a:solidFill>
                <a:latin typeface="Calibri"/>
              </a:rPr>
              <a:t>8</a:t>
            </a:r>
            <a:endParaRPr sz="1000">
              <a:solidFill>
                <a:srgbClr val="5A6A7A"/>
              </a:solidFill>
              <a:latin typeface="Calibri"/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411480" y="201168"/>
            <a:ext cx="98755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3000" b="1">
                <a:solidFill>
                  <a:srgbClr val="112D4E"/>
                </a:solidFill>
                <a:latin typeface="Calibri"/>
              </a:rPr>
              <a:t>Retrieval quality — exact-match accuracy so far</a:t>
            </a:r>
            <a:endParaRPr sz="3000" b="1">
              <a:solidFill>
                <a:srgbClr val="112D4E"/>
              </a:solidFill>
              <a:latin typeface="Calibri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9814255" y="320040"/>
            <a:ext cx="20116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lnSpc>
                <a:spcPct val="100000"/>
              </a:lnSpc>
              <a:spcAft>
                <a:spcPts val="400"/>
              </a:spcAft>
            </a:pPr>
            <a:r>
              <a:rPr sz="1300" b="1">
                <a:solidFill>
                  <a:srgbClr val="2E6DA4"/>
                </a:solidFill>
                <a:latin typeface="Calibri"/>
              </a:rPr>
              <a:t>RESULTS · QUALITY</a:t>
            </a:r>
            <a:endParaRPr sz="1300" b="1">
              <a:solidFill>
                <a:srgbClr val="2E6DA4"/>
              </a:solidFill>
              <a:latin typeface="Calibri"/>
            </a:endParaRPr>
          </a:p>
        </p:txBody>
      </p:sp>
      <p:sp>
        <p:nvSpPr>
          <p:cNvPr id="5" name="Rectangle 4"/>
          <p:cNvSpPr/>
          <p:nvPr/>
        </p:nvSpPr>
        <p:spPr>
          <a:xfrm>
            <a:off x="411480" y="896112"/>
            <a:ext cx="11368735" cy="475488"/>
          </a:xfrm>
          <a:prstGeom prst="rect">
            <a:avLst/>
          </a:prstGeom>
          <a:noFill/>
          <a:ln w="12700">
            <a:solidFill>
              <a:srgbClr val="C9D4D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9728" tIns="54864" bIns="36576" rtlCol="0" anchor="ctr"/>
          <a:lstStyle/>
          <a:p>
            <a:pPr algn="ctr"/>
            <a:r>
              <a:rPr sz="1350">
                <a:solidFill>
                  <a:srgbClr val="5A6A7A"/>
                </a:solidFill>
                <a:latin typeface="Calibri"/>
              </a:rPr>
              <a:t>First four scheduled Jake questions only (4/102); benchmark evaluator's exact multiple-choice result. Small sample — directional, not final.</a:t>
            </a:r>
            <a:endParaRPr sz="1350">
              <a:solidFill>
                <a:srgbClr val="5A6A7A"/>
              </a:solidFill>
              <a:latin typeface="Calibri"/>
            </a:endParaRPr>
          </a:p>
        </p:txBody>
      </p:sp>
      <p:sp>
        <p:nvSpPr>
          <p:cNvPr id="6" name="Rectangle 5"/>
          <p:cNvSpPr/>
          <p:nvPr/>
        </p:nvSpPr>
        <p:spPr>
          <a:xfrm>
            <a:off x="411480" y="1481328"/>
            <a:ext cx="11368735" cy="19050"/>
          </a:xfrm>
          <a:prstGeom prst="rect">
            <a:avLst/>
          </a:prstGeom>
          <a:solidFill>
            <a:srgbClr val="C9D4D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411480" y="1691640"/>
          <a:ext cx="11384280" cy="192024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3291840"/>
                <a:gridCol w="2103120"/>
                <a:gridCol w="2651760"/>
                <a:gridCol w="3337560"/>
              </a:tblGrid>
              <a:tr h="384048">
                <a:tc>
                  <a:txBody>
                    <a:bodyPr/>
                    <a:lstStyle/>
                    <a:p>
                      <a:pPr algn="l"/>
                      <a:r>
                        <a:rPr sz="1300" b="1">
                          <a:solidFill>
                            <a:srgbClr val="112D4E"/>
                          </a:solidFill>
                          <a:latin typeface="Calibri"/>
                        </a:rPr>
                        <a:t>Config</a:t>
                      </a:r>
                      <a:endParaRPr sz="1300" b="1">
                        <a:solidFill>
                          <a:srgbClr val="112D4E"/>
                        </a:solidFill>
                        <a:latin typeface="Calibri"/>
                      </a:endParaRPr>
                    </a:p>
                  </a:txBody>
                  <a:tcPr marL="73152" marR="54864" marT="25400" marB="254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300" b="1">
                          <a:solidFill>
                            <a:srgbClr val="112D4E"/>
                          </a:solidFill>
                          <a:latin typeface="Calibri"/>
                        </a:rPr>
                        <a:t>R1 · native</a:t>
                      </a:r>
                      <a:endParaRPr sz="1300" b="1">
                        <a:solidFill>
                          <a:srgbClr val="112D4E"/>
                        </a:solidFill>
                        <a:latin typeface="Calibri"/>
                      </a:endParaRPr>
                    </a:p>
                  </a:txBody>
                  <a:tcPr marL="73152" marR="54864" marT="25400" marB="254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300" b="1">
                          <a:solidFill>
                            <a:srgbClr val="112D4E"/>
                          </a:solidFill>
                          <a:latin typeface="Calibri"/>
                        </a:rPr>
                        <a:t>R2 · Mandol hybrid</a:t>
                      </a:r>
                      <a:endParaRPr sz="1300" b="1">
                        <a:solidFill>
                          <a:srgbClr val="112D4E"/>
                        </a:solidFill>
                        <a:latin typeface="Calibri"/>
                      </a:endParaRPr>
                    </a:p>
                  </a:txBody>
                  <a:tcPr marL="73152" marR="54864" marT="25400" marB="254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300" b="1">
                          <a:solidFill>
                            <a:srgbClr val="112D4E"/>
                          </a:solidFill>
                          <a:latin typeface="Calibri"/>
                        </a:rPr>
                        <a:t>Notes</a:t>
                      </a:r>
                      <a:endParaRPr sz="1300" b="1">
                        <a:solidFill>
                          <a:srgbClr val="112D4E"/>
                        </a:solidFill>
                        <a:latin typeface="Calibri"/>
                      </a:endParaRPr>
                    </a:p>
                  </a:txBody>
                  <a:tcPr marL="73152" marR="54864" marT="25400" marB="25400" anchor="ctr"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/>
                      <a:r>
                        <a:rPr sz="1200" b="1">
                          <a:solidFill>
                            <a:srgbClr val="333333"/>
                          </a:solidFill>
                          <a:latin typeface="Calibri"/>
                        </a:rPr>
                        <a:t>C1 · CAM++, retain50</a:t>
                      </a:r>
                      <a:endParaRPr sz="1200" b="1">
                        <a:solidFill>
                          <a:srgbClr val="333333"/>
                        </a:solidFill>
                        <a:latin typeface="Calibri"/>
                      </a:endParaRPr>
                    </a:p>
                  </a:txBody>
                  <a:tcPr marL="73152" marR="54864" marT="25400" marB="254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200" b="0">
                          <a:solidFill>
                            <a:srgbClr val="333333"/>
                          </a:solidFill>
                          <a:latin typeface="Calibri"/>
                        </a:rPr>
                        <a:t>1/4 (25%)</a:t>
                      </a:r>
                      <a:endParaRPr sz="1200" b="0">
                        <a:solidFill>
                          <a:srgbClr val="333333"/>
                        </a:solidFill>
                        <a:latin typeface="Calibri"/>
                      </a:endParaRPr>
                    </a:p>
                  </a:txBody>
                  <a:tcPr marL="73152" marR="54864" marT="25400" marB="254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200" b="0">
                          <a:solidFill>
                            <a:srgbClr val="333333"/>
                          </a:solidFill>
                          <a:latin typeface="Calibri"/>
                        </a:rPr>
                        <a:t>1/4 (25%)</a:t>
                      </a:r>
                      <a:endParaRPr sz="1200" b="0">
                        <a:solidFill>
                          <a:srgbClr val="333333"/>
                        </a:solidFill>
                        <a:latin typeface="Calibri"/>
                      </a:endParaRPr>
                    </a:p>
                  </a:txBody>
                  <a:tcPr marL="73152" marR="54864" marT="25400" marB="254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200" b="0">
                          <a:solidFill>
                            <a:srgbClr val="333333"/>
                          </a:solidFill>
                          <a:latin typeface="Calibri"/>
                        </a:rPr>
                        <a:t>Different questions correct per path</a:t>
                      </a:r>
                      <a:endParaRPr sz="1200" b="0">
                        <a:solidFill>
                          <a:srgbClr val="333333"/>
                        </a:solidFill>
                        <a:latin typeface="Calibri"/>
                      </a:endParaRPr>
                    </a:p>
                  </a:txBody>
                  <a:tcPr marL="73152" marR="54864" marT="25400" marB="25400" anchor="ctr"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/>
                      <a:r>
                        <a:rPr sz="1200" b="1">
                          <a:solidFill>
                            <a:srgbClr val="333333"/>
                          </a:solidFill>
                          <a:latin typeface="Calibri"/>
                        </a:rPr>
                        <a:t>C2 · TST, retain50</a:t>
                      </a:r>
                      <a:endParaRPr sz="1200" b="1">
                        <a:solidFill>
                          <a:srgbClr val="333333"/>
                        </a:solidFill>
                        <a:latin typeface="Calibri"/>
                      </a:endParaRPr>
                    </a:p>
                  </a:txBody>
                  <a:tcPr marL="73152" marR="54864" marT="25400" marB="25400" anchor="ctr"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200" b="0">
                          <a:solidFill>
                            <a:srgbClr val="333333"/>
                          </a:solidFill>
                          <a:latin typeface="Calibri"/>
                        </a:rPr>
                        <a:t>1/4 (25%)</a:t>
                      </a:r>
                      <a:endParaRPr sz="1200" b="0">
                        <a:solidFill>
                          <a:srgbClr val="333333"/>
                        </a:solidFill>
                        <a:latin typeface="Calibri"/>
                      </a:endParaRPr>
                    </a:p>
                  </a:txBody>
                  <a:tcPr marL="73152" marR="54864" marT="25400" marB="25400" anchor="ctr"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200" b="0">
                          <a:solidFill>
                            <a:srgbClr val="333333"/>
                          </a:solidFill>
                          <a:latin typeface="Calibri"/>
                        </a:rPr>
                        <a:t>1/4 (25%)</a:t>
                      </a:r>
                      <a:endParaRPr sz="1200" b="0">
                        <a:solidFill>
                          <a:srgbClr val="333333"/>
                        </a:solidFill>
                        <a:latin typeface="Calibri"/>
                      </a:endParaRPr>
                    </a:p>
                  </a:txBody>
                  <a:tcPr marL="73152" marR="54864" marT="25400" marB="25400" anchor="ctr"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200" b="0">
                          <a:solidFill>
                            <a:srgbClr val="333333"/>
                          </a:solidFill>
                          <a:latin typeface="Calibri"/>
                        </a:rPr>
                        <a:t>R1 and R2 agree here</a:t>
                      </a:r>
                      <a:endParaRPr sz="1200" b="0">
                        <a:solidFill>
                          <a:srgbClr val="333333"/>
                        </a:solidFill>
                        <a:latin typeface="Calibri"/>
                      </a:endParaRPr>
                    </a:p>
                  </a:txBody>
                  <a:tcPr marL="73152" marR="54864" marT="25400" marB="25400" anchor="ctr">
                    <a:solidFill>
                      <a:srgbClr val="F2F6FA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/>
                      <a:r>
                        <a:rPr sz="1200" b="1">
                          <a:solidFill>
                            <a:srgbClr val="333333"/>
                          </a:solidFill>
                          <a:latin typeface="Calibri"/>
                        </a:rPr>
                        <a:t>C3 · TST + consolidation</a:t>
                      </a:r>
                      <a:endParaRPr sz="1200" b="1">
                        <a:solidFill>
                          <a:srgbClr val="333333"/>
                        </a:solidFill>
                        <a:latin typeface="Calibri"/>
                      </a:endParaRPr>
                    </a:p>
                  </a:txBody>
                  <a:tcPr marL="73152" marR="54864" marT="25400" marB="254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200" b="0">
                          <a:solidFill>
                            <a:srgbClr val="333333"/>
                          </a:solidFill>
                          <a:latin typeface="Calibri"/>
                        </a:rPr>
                        <a:t>2/4 (50%)</a:t>
                      </a:r>
                      <a:endParaRPr sz="1200" b="0">
                        <a:solidFill>
                          <a:srgbClr val="333333"/>
                        </a:solidFill>
                        <a:latin typeface="Calibri"/>
                      </a:endParaRPr>
                    </a:p>
                  </a:txBody>
                  <a:tcPr marL="73152" marR="54864" marT="25400" marB="254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200" b="0">
                          <a:solidFill>
                            <a:srgbClr val="333333"/>
                          </a:solidFill>
                          <a:latin typeface="Calibri"/>
                        </a:rPr>
                        <a:t>0/4 (0%)</a:t>
                      </a:r>
                      <a:endParaRPr sz="1200" b="0">
                        <a:solidFill>
                          <a:srgbClr val="333333"/>
                        </a:solidFill>
                        <a:latin typeface="Calibri"/>
                      </a:endParaRPr>
                    </a:p>
                  </a:txBody>
                  <a:tcPr marL="73152" marR="54864" marT="25400" marB="254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200" b="0">
                          <a:solidFill>
                            <a:srgbClr val="333333"/>
                          </a:solidFill>
                          <a:latin typeface="Calibri"/>
                        </a:rPr>
                        <a:t>Both consolidations ran before QA</a:t>
                      </a:r>
                      <a:endParaRPr sz="1200" b="0">
                        <a:solidFill>
                          <a:srgbClr val="333333"/>
                        </a:solidFill>
                        <a:latin typeface="Calibri"/>
                      </a:endParaRPr>
                    </a:p>
                  </a:txBody>
                  <a:tcPr marL="73152" marR="54864" marT="25400" marB="25400" anchor="ctr"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/>
                      <a:r>
                        <a:rPr sz="1200" b="1">
                          <a:solidFill>
                            <a:srgbClr val="333333"/>
                          </a:solidFill>
                          <a:latin typeface="Calibri"/>
                        </a:rPr>
                        <a:t>C4 · TST + consolidation, retain70</a:t>
                      </a:r>
                      <a:endParaRPr sz="1200" b="1">
                        <a:solidFill>
                          <a:srgbClr val="333333"/>
                        </a:solidFill>
                        <a:latin typeface="Calibri"/>
                      </a:endParaRPr>
                    </a:p>
                  </a:txBody>
                  <a:tcPr marL="73152" marR="54864" marT="25400" marB="25400" anchor="ctr"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200" b="0">
                          <a:solidFill>
                            <a:srgbClr val="333333"/>
                          </a:solidFill>
                          <a:latin typeface="Calibri"/>
                        </a:rPr>
                        <a:t>0/4 (0%)</a:t>
                      </a:r>
                      <a:endParaRPr sz="1200" b="0">
                        <a:solidFill>
                          <a:srgbClr val="333333"/>
                        </a:solidFill>
                        <a:latin typeface="Calibri"/>
                      </a:endParaRPr>
                    </a:p>
                  </a:txBody>
                  <a:tcPr marL="73152" marR="54864" marT="25400" marB="25400" anchor="ctr"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200" b="0">
                          <a:solidFill>
                            <a:srgbClr val="333333"/>
                          </a:solidFill>
                          <a:latin typeface="Calibri"/>
                        </a:rPr>
                        <a:t>2/4 (50%)</a:t>
                      </a:r>
                      <a:endParaRPr sz="1200" b="0">
                        <a:solidFill>
                          <a:srgbClr val="333333"/>
                        </a:solidFill>
                        <a:latin typeface="Calibri"/>
                      </a:endParaRPr>
                    </a:p>
                  </a:txBody>
                  <a:tcPr marL="73152" marR="54864" marT="25400" marB="25400" anchor="ctr"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200" b="0">
                          <a:solidFill>
                            <a:srgbClr val="333333"/>
                          </a:solidFill>
                          <a:latin typeface="Calibri"/>
                        </a:rPr>
                        <a:t>Best R2 result so far</a:t>
                      </a:r>
                      <a:endParaRPr sz="1200" b="0">
                        <a:solidFill>
                          <a:srgbClr val="333333"/>
                        </a:solidFill>
                        <a:latin typeface="Calibri"/>
                      </a:endParaRPr>
                    </a:p>
                  </a:txBody>
                  <a:tcPr marL="73152" marR="54864" marT="25400" marB="25400" anchor="ctr">
                    <a:solidFill>
                      <a:srgbClr val="F2F6FA"/>
                    </a:solidFill>
                  </a:tcPr>
                </a:tc>
              </a:tr>
            </a:tbl>
          </a:graphicData>
        </a:graphic>
      </p:graphicFrame>
      <p:sp>
        <p:nvSpPr>
          <p:cNvPr id="8" name="TextBox 7"/>
          <p:cNvSpPr txBox="1"/>
          <p:nvPr/>
        </p:nvSpPr>
        <p:spPr>
          <a:xfrm>
            <a:off x="411480" y="3657600"/>
            <a:ext cx="7315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300" b="1">
                <a:solidFill>
                  <a:srgbClr val="2E6DA4"/>
                </a:solidFill>
                <a:latin typeface="Calibri"/>
              </a:rPr>
              <a:t>Per-question (reference in brackets) — C4 example</a:t>
            </a:r>
            <a:endParaRPr sz="1300" b="1">
              <a:solidFill>
                <a:srgbClr val="2E6DA4"/>
              </a:solidFill>
              <a:latin typeface="Calibri"/>
            </a:endParaRPr>
          </a:p>
        </p:txBody>
      </p:sp>
      <p:graphicFrame>
        <p:nvGraphicFramePr>
          <p:cNvPr id="9" name="Table 8"/>
          <p:cNvGraphicFramePr>
            <a:graphicFrameLocks noGrp="1"/>
          </p:cNvGraphicFramePr>
          <p:nvPr/>
        </p:nvGraphicFramePr>
        <p:xfrm>
          <a:off x="411480" y="3977639"/>
          <a:ext cx="11384280" cy="164592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7315200"/>
                <a:gridCol w="914400"/>
                <a:gridCol w="1554480"/>
                <a:gridCol w="1600200"/>
              </a:tblGrid>
              <a:tr h="329184">
                <a:tc>
                  <a:txBody>
                    <a:bodyPr/>
                    <a:lstStyle/>
                    <a:p>
                      <a:pPr algn="l"/>
                      <a:r>
                        <a:rPr sz="1300" b="1">
                          <a:solidFill>
                            <a:srgbClr val="112D4E"/>
                          </a:solidFill>
                          <a:latin typeface="Calibri"/>
                        </a:rPr>
                        <a:t>Question</a:t>
                      </a:r>
                      <a:endParaRPr sz="1300" b="1">
                        <a:solidFill>
                          <a:srgbClr val="112D4E"/>
                        </a:solidFill>
                        <a:latin typeface="Calibri"/>
                      </a:endParaRPr>
                    </a:p>
                  </a:txBody>
                  <a:tcPr marL="73152" marR="54864" marT="25400" marB="254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300" b="1">
                          <a:solidFill>
                            <a:srgbClr val="112D4E"/>
                          </a:solidFill>
                          <a:latin typeface="Calibri"/>
                        </a:rPr>
                        <a:t>Ref</a:t>
                      </a:r>
                      <a:endParaRPr sz="1300" b="1">
                        <a:solidFill>
                          <a:srgbClr val="112D4E"/>
                        </a:solidFill>
                        <a:latin typeface="Calibri"/>
                      </a:endParaRPr>
                    </a:p>
                  </a:txBody>
                  <a:tcPr marL="73152" marR="54864" marT="25400" marB="254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300" b="1">
                          <a:solidFill>
                            <a:srgbClr val="112D4E"/>
                          </a:solidFill>
                          <a:latin typeface="Calibri"/>
                        </a:rPr>
                        <a:t>C4-R1</a:t>
                      </a:r>
                      <a:endParaRPr sz="1300" b="1">
                        <a:solidFill>
                          <a:srgbClr val="112D4E"/>
                        </a:solidFill>
                        <a:latin typeface="Calibri"/>
                      </a:endParaRPr>
                    </a:p>
                  </a:txBody>
                  <a:tcPr marL="73152" marR="54864" marT="25400" marB="254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300" b="1">
                          <a:solidFill>
                            <a:srgbClr val="112D4E"/>
                          </a:solidFill>
                          <a:latin typeface="Calibri"/>
                        </a:rPr>
                        <a:t>C4-R2</a:t>
                      </a:r>
                      <a:endParaRPr sz="1300" b="1">
                        <a:solidFill>
                          <a:srgbClr val="112D4E"/>
                        </a:solidFill>
                        <a:latin typeface="Calibri"/>
                      </a:endParaRPr>
                    </a:p>
                  </a:txBody>
                  <a:tcPr marL="73152" marR="54864" marT="25400" marB="25400" anchor="ctr">
                    <a:solidFill>
                      <a:srgbClr val="FFFFFF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algn="l"/>
                      <a:r>
                        <a:rPr sz="1200" b="1">
                          <a:solidFill>
                            <a:srgbClr val="333333"/>
                          </a:solidFill>
                          <a:latin typeface="Calibri"/>
                        </a:rPr>
                        <a:t>Who used the screwdriver first?</a:t>
                      </a:r>
                      <a:endParaRPr sz="1200" b="1">
                        <a:solidFill>
                          <a:srgbClr val="333333"/>
                        </a:solidFill>
                        <a:latin typeface="Calibri"/>
                      </a:endParaRPr>
                    </a:p>
                  </a:txBody>
                  <a:tcPr marL="73152" marR="54864" marT="25400" marB="254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200" b="0">
                          <a:solidFill>
                            <a:srgbClr val="333333"/>
                          </a:solidFill>
                          <a:latin typeface="Calibri"/>
                        </a:rPr>
                        <a:t>B</a:t>
                      </a:r>
                      <a:endParaRPr sz="1200" b="0">
                        <a:solidFill>
                          <a:srgbClr val="333333"/>
                        </a:solidFill>
                        <a:latin typeface="Calibri"/>
                      </a:endParaRPr>
                    </a:p>
                  </a:txBody>
                  <a:tcPr marL="73152" marR="54864" marT="25400" marB="254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200" b="0">
                          <a:solidFill>
                            <a:srgbClr val="333333"/>
                          </a:solidFill>
                          <a:latin typeface="Calibri"/>
                        </a:rPr>
                        <a:t>✗</a:t>
                      </a:r>
                      <a:endParaRPr sz="1200" b="0">
                        <a:solidFill>
                          <a:srgbClr val="333333"/>
                        </a:solidFill>
                        <a:latin typeface="Calibri"/>
                      </a:endParaRPr>
                    </a:p>
                  </a:txBody>
                  <a:tcPr marL="73152" marR="54864" marT="25400" marB="254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200" b="0">
                          <a:solidFill>
                            <a:srgbClr val="333333"/>
                          </a:solidFill>
                          <a:latin typeface="Calibri"/>
                        </a:rPr>
                        <a:t>✗</a:t>
                      </a:r>
                      <a:endParaRPr sz="1200" b="0">
                        <a:solidFill>
                          <a:srgbClr val="333333"/>
                        </a:solidFill>
                        <a:latin typeface="Calibri"/>
                      </a:endParaRPr>
                    </a:p>
                  </a:txBody>
                  <a:tcPr marL="73152" marR="54864" marT="25400" marB="25400" anchor="ctr">
                    <a:solidFill>
                      <a:srgbClr val="FFFFFF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algn="l"/>
                      <a:r>
                        <a:rPr sz="1200" b="1">
                          <a:solidFill>
                            <a:srgbClr val="333333"/>
                          </a:solidFill>
                          <a:latin typeface="Calibri"/>
                        </a:rPr>
                        <a:t>Where was the black marker in Shure's hand before?</a:t>
                      </a:r>
                      <a:endParaRPr sz="1200" b="1">
                        <a:solidFill>
                          <a:srgbClr val="333333"/>
                        </a:solidFill>
                        <a:latin typeface="Calibri"/>
                      </a:endParaRPr>
                    </a:p>
                  </a:txBody>
                  <a:tcPr marL="73152" marR="54864" marT="25400" marB="25400" anchor="ctr"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200" b="0">
                          <a:solidFill>
                            <a:srgbClr val="333333"/>
                          </a:solidFill>
                          <a:latin typeface="Calibri"/>
                        </a:rPr>
                        <a:t>C</a:t>
                      </a:r>
                      <a:endParaRPr sz="1200" b="0">
                        <a:solidFill>
                          <a:srgbClr val="333333"/>
                        </a:solidFill>
                        <a:latin typeface="Calibri"/>
                      </a:endParaRPr>
                    </a:p>
                  </a:txBody>
                  <a:tcPr marL="73152" marR="54864" marT="25400" marB="25400" anchor="ctr"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200" b="0">
                          <a:solidFill>
                            <a:srgbClr val="333333"/>
                          </a:solidFill>
                          <a:latin typeface="Calibri"/>
                        </a:rPr>
                        <a:t>✗</a:t>
                      </a:r>
                      <a:endParaRPr sz="1200" b="0">
                        <a:solidFill>
                          <a:srgbClr val="333333"/>
                        </a:solidFill>
                        <a:latin typeface="Calibri"/>
                      </a:endParaRPr>
                    </a:p>
                  </a:txBody>
                  <a:tcPr marL="73152" marR="54864" marT="25400" marB="25400" anchor="ctr"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200" b="0">
                          <a:solidFill>
                            <a:srgbClr val="333333"/>
                          </a:solidFill>
                          <a:latin typeface="Calibri"/>
                        </a:rPr>
                        <a:t>✓</a:t>
                      </a:r>
                      <a:endParaRPr sz="1200" b="0">
                        <a:solidFill>
                          <a:srgbClr val="333333"/>
                        </a:solidFill>
                        <a:latin typeface="Calibri"/>
                      </a:endParaRPr>
                    </a:p>
                  </a:txBody>
                  <a:tcPr marL="73152" marR="54864" marT="25400" marB="25400" anchor="ctr">
                    <a:solidFill>
                      <a:srgbClr val="F2F6FA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algn="l"/>
                      <a:r>
                        <a:rPr sz="1200" b="1">
                          <a:solidFill>
                            <a:srgbClr val="333333"/>
                          </a:solidFill>
                          <a:latin typeface="Calibri"/>
                        </a:rPr>
                        <a:t>Where was the small clapperboard on the table placed before?</a:t>
                      </a:r>
                      <a:endParaRPr sz="1200" b="1">
                        <a:solidFill>
                          <a:srgbClr val="333333"/>
                        </a:solidFill>
                        <a:latin typeface="Calibri"/>
                      </a:endParaRPr>
                    </a:p>
                  </a:txBody>
                  <a:tcPr marL="73152" marR="54864" marT="25400" marB="254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200" b="0">
                          <a:solidFill>
                            <a:srgbClr val="333333"/>
                          </a:solidFill>
                          <a:latin typeface="Calibri"/>
                        </a:rPr>
                        <a:t>D</a:t>
                      </a:r>
                      <a:endParaRPr sz="1200" b="0">
                        <a:solidFill>
                          <a:srgbClr val="333333"/>
                        </a:solidFill>
                        <a:latin typeface="Calibri"/>
                      </a:endParaRPr>
                    </a:p>
                  </a:txBody>
                  <a:tcPr marL="73152" marR="54864" marT="25400" marB="254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200" b="0">
                          <a:solidFill>
                            <a:srgbClr val="333333"/>
                          </a:solidFill>
                          <a:latin typeface="Calibri"/>
                        </a:rPr>
                        <a:t>✗</a:t>
                      </a:r>
                      <a:endParaRPr sz="1200" b="0">
                        <a:solidFill>
                          <a:srgbClr val="333333"/>
                        </a:solidFill>
                        <a:latin typeface="Calibri"/>
                      </a:endParaRPr>
                    </a:p>
                  </a:txBody>
                  <a:tcPr marL="73152" marR="54864" marT="25400" marB="254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200" b="0">
                          <a:solidFill>
                            <a:srgbClr val="333333"/>
                          </a:solidFill>
                          <a:latin typeface="Calibri"/>
                        </a:rPr>
                        <a:t>✓</a:t>
                      </a:r>
                      <a:endParaRPr sz="1200" b="0">
                        <a:solidFill>
                          <a:srgbClr val="333333"/>
                        </a:solidFill>
                        <a:latin typeface="Calibri"/>
                      </a:endParaRPr>
                    </a:p>
                  </a:txBody>
                  <a:tcPr marL="73152" marR="54864" marT="25400" marB="25400" anchor="ctr">
                    <a:solidFill>
                      <a:srgbClr val="FFFFFF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algn="l"/>
                      <a:r>
                        <a:rPr sz="1200" b="1">
                          <a:solidFill>
                            <a:srgbClr val="333333"/>
                          </a:solidFill>
                          <a:latin typeface="Calibri"/>
                        </a:rPr>
                        <a:t>Who just helped Katrina put the flowers on the table?</a:t>
                      </a:r>
                      <a:endParaRPr sz="1200" b="1">
                        <a:solidFill>
                          <a:srgbClr val="333333"/>
                        </a:solidFill>
                        <a:latin typeface="Calibri"/>
                      </a:endParaRPr>
                    </a:p>
                  </a:txBody>
                  <a:tcPr marL="73152" marR="54864" marT="25400" marB="25400" anchor="ctr"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200" b="0">
                          <a:solidFill>
                            <a:srgbClr val="333333"/>
                          </a:solidFill>
                          <a:latin typeface="Calibri"/>
                        </a:rPr>
                        <a:t>C</a:t>
                      </a:r>
                      <a:endParaRPr sz="1200" b="0">
                        <a:solidFill>
                          <a:srgbClr val="333333"/>
                        </a:solidFill>
                        <a:latin typeface="Calibri"/>
                      </a:endParaRPr>
                    </a:p>
                  </a:txBody>
                  <a:tcPr marL="73152" marR="54864" marT="25400" marB="25400" anchor="ctr"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200" b="0">
                          <a:solidFill>
                            <a:srgbClr val="333333"/>
                          </a:solidFill>
                          <a:latin typeface="Calibri"/>
                        </a:rPr>
                        <a:t>✗</a:t>
                      </a:r>
                      <a:endParaRPr sz="1200" b="0">
                        <a:solidFill>
                          <a:srgbClr val="333333"/>
                        </a:solidFill>
                        <a:latin typeface="Calibri"/>
                      </a:endParaRPr>
                    </a:p>
                  </a:txBody>
                  <a:tcPr marL="73152" marR="54864" marT="25400" marB="25400" anchor="ctr"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200" b="0">
                          <a:solidFill>
                            <a:srgbClr val="333333"/>
                          </a:solidFill>
                          <a:latin typeface="Calibri"/>
                        </a:rPr>
                        <a:t>✗</a:t>
                      </a:r>
                      <a:endParaRPr sz="1200" b="0">
                        <a:solidFill>
                          <a:srgbClr val="333333"/>
                        </a:solidFill>
                        <a:latin typeface="Calibri"/>
                      </a:endParaRPr>
                    </a:p>
                  </a:txBody>
                  <a:tcPr marL="73152" marR="54864" marT="25400" marB="25400" anchor="ctr">
                    <a:solidFill>
                      <a:srgbClr val="F2F6FA"/>
                    </a:solidFill>
                  </a:tcPr>
                </a:tc>
              </a:tr>
            </a:tbl>
          </a:graphicData>
        </a:graphic>
      </p:graphicFrame>
      <p:sp>
        <p:nvSpPr>
          <p:cNvPr id="10" name="TextBox 9"/>
          <p:cNvSpPr txBox="1"/>
          <p:nvPr/>
        </p:nvSpPr>
        <p:spPr>
          <a:xfrm>
            <a:off x="411480" y="5897880"/>
            <a:ext cx="1133856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200" b="0">
                <a:solidFill>
                  <a:srgbClr val="5A6A7A"/>
                </a:solidFill>
                <a:latin typeface="Calibri"/>
              </a:rPr>
              <a:t>Consolidation + higher retention (C4) currently helps the reranked Mandol path; the native path leads for C3. R2 evidence is the fused top-10 units per snapshot.</a:t>
            </a:r>
            <a:endParaRPr sz="1200" b="0">
              <a:solidFill>
                <a:srgbClr val="5A6A7A"/>
              </a:solidFill>
              <a:latin typeface="Calibri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1643055" y="6537960"/>
            <a:ext cx="4572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>
                <a:solidFill>
                  <a:srgbClr val="5A6A7A"/>
                </a:solidFill>
                <a:latin typeface="Calibri"/>
              </a:rPr>
              <a:t>9</a:t>
            </a:r>
            <a:endParaRPr sz="1000">
              <a:solidFill>
                <a:srgbClr val="5A6A7A"/>
              </a:solidFill>
              <a:latin typeface="Calibri"/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411480" y="201168"/>
            <a:ext cx="98755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3000" b="1">
                <a:solidFill>
                  <a:srgbClr val="112D4E"/>
                </a:solidFill>
                <a:latin typeface="Calibri"/>
              </a:rPr>
              <a:t>Consolidation backend comparison — Astra vs Sol</a:t>
            </a:r>
            <a:endParaRPr sz="3000" b="1">
              <a:solidFill>
                <a:srgbClr val="112D4E"/>
              </a:solidFill>
              <a:latin typeface="Calibri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9814255" y="320040"/>
            <a:ext cx="20116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lnSpc>
                <a:spcPct val="100000"/>
              </a:lnSpc>
              <a:spcAft>
                <a:spcPts val="400"/>
              </a:spcAft>
            </a:pPr>
            <a:r>
              <a:rPr sz="1300" b="1">
                <a:solidFill>
                  <a:srgbClr val="2E6DA4"/>
                </a:solidFill>
                <a:latin typeface="Calibri"/>
              </a:rPr>
              <a:t>RESULTS · BACKEND</a:t>
            </a:r>
            <a:endParaRPr sz="1300" b="1">
              <a:solidFill>
                <a:srgbClr val="2E6DA4"/>
              </a:solidFill>
              <a:latin typeface="Calibri"/>
            </a:endParaRPr>
          </a:p>
        </p:txBody>
      </p:sp>
      <p:sp>
        <p:nvSpPr>
          <p:cNvPr id="5" name="Rectangle 4"/>
          <p:cNvSpPr/>
          <p:nvPr/>
        </p:nvSpPr>
        <p:spPr>
          <a:xfrm>
            <a:off x="411480" y="896112"/>
            <a:ext cx="11368735" cy="475488"/>
          </a:xfrm>
          <a:prstGeom prst="rect">
            <a:avLst/>
          </a:prstGeom>
          <a:noFill/>
          <a:ln w="12700">
            <a:solidFill>
              <a:srgbClr val="C9D4D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9728" tIns="54864" bIns="36576" rtlCol="0" anchor="ctr"/>
          <a:lstStyle/>
          <a:p>
            <a:pPr algn="ctr"/>
            <a:r>
              <a:rPr sz="1350">
                <a:solidFill>
                  <a:srgbClr val="5A6A7A"/>
                </a:solidFill>
                <a:latin typeface="Calibri"/>
              </a:rPr>
              <a:t>Controlled replay (recall_20): identical instructions, evidence, cutoff, and baseline graph; only the model field changed. Reasoning = high for both.</a:t>
            </a:r>
            <a:endParaRPr sz="1350">
              <a:solidFill>
                <a:srgbClr val="5A6A7A"/>
              </a:solidFill>
              <a:latin typeface="Calibri"/>
            </a:endParaRPr>
          </a:p>
        </p:txBody>
      </p:sp>
      <p:sp>
        <p:nvSpPr>
          <p:cNvPr id="6" name="Rectangle 5"/>
          <p:cNvSpPr/>
          <p:nvPr/>
        </p:nvSpPr>
        <p:spPr>
          <a:xfrm>
            <a:off x="411480" y="1481328"/>
            <a:ext cx="11368735" cy="19050"/>
          </a:xfrm>
          <a:prstGeom prst="rect">
            <a:avLst/>
          </a:prstGeom>
          <a:solidFill>
            <a:srgbClr val="C9D4D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411480" y="1691640"/>
            <a:ext cx="3657600" cy="1051560"/>
          </a:xfrm>
          <a:prstGeom prst="roundRect">
            <a:avLst>
              <a:gd name="adj" fmla="val 8000"/>
            </a:avLst>
          </a:prstGeom>
          <a:solidFill>
            <a:srgbClr val="EAF1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64592" tIns="91440" rtlCol="0" anchor="ctr"/>
          <a:lstStyle/>
          <a:p>
            <a:pPr algn="ctr">
              <a:spcAft>
                <a:spcPts val="200"/>
              </a:spcAft>
            </a:pPr>
            <a:r>
              <a:rPr sz="1300" b="1">
                <a:solidFill>
                  <a:srgbClr val="112D4E"/>
                </a:solidFill>
                <a:latin typeface="Calibri"/>
              </a:rPr>
              <a:t>Astra round 1</a:t>
            </a:r>
            <a:endParaRPr sz="1300" b="1">
              <a:solidFill>
                <a:srgbClr val="112D4E"/>
              </a:solidFill>
              <a:latin typeface="Calibri"/>
            </a:endParaRPr>
          </a:p>
          <a:p>
            <a:pPr>
              <a:spcAft>
                <a:spcPts val="200"/>
              </a:spcAft>
            </a:pPr>
            <a:r>
              <a:rPr sz="2600" b="1">
                <a:solidFill>
                  <a:srgbClr val="2E6DA4"/>
                </a:solidFill>
                <a:latin typeface="Calibri"/>
              </a:rPr>
              <a:t>$</a:t>
            </a:r>
            <a:r>
              <a:rPr lang="en-US" sz="2600" b="1">
                <a:solidFill>
                  <a:srgbClr val="2E6DA4"/>
                </a:solidFill>
                <a:latin typeface="Calibri"/>
              </a:rPr>
              <a:t>10</a:t>
            </a:r>
            <a:r>
              <a:rPr sz="2600" b="1">
                <a:solidFill>
                  <a:srgbClr val="2E6DA4"/>
                </a:solidFill>
                <a:latin typeface="Calibri"/>
              </a:rPr>
              <a:t>.52</a:t>
            </a:r>
            <a:endParaRPr sz="2600" b="1">
              <a:solidFill>
                <a:srgbClr val="2E6DA4"/>
              </a:solidFill>
              <a:latin typeface="Calibri"/>
            </a:endParaRPr>
          </a:p>
          <a:p>
            <a:pPr>
              <a:spcAft>
                <a:spcPts val="200"/>
              </a:spcAft>
            </a:pPr>
            <a:r>
              <a:rPr sz="1100" b="0">
                <a:solidFill>
                  <a:srgbClr val="5A6A7A"/>
                </a:solidFill>
                <a:latin typeface="Calibri"/>
              </a:rPr>
              <a:t>gpt-6-astra · 310,755 in / 23,295 out · &gt;272K long-context rates</a:t>
            </a:r>
            <a:endParaRPr sz="1100" b="0">
              <a:solidFill>
                <a:srgbClr val="5A6A7A"/>
              </a:solidFill>
              <a:latin typeface="Calibri"/>
            </a:endParaRPr>
          </a:p>
        </p:txBody>
      </p:sp>
      <p:sp>
        <p:nvSpPr>
          <p:cNvPr id="8" name="Rounded Rectangle 7"/>
          <p:cNvSpPr/>
          <p:nvPr/>
        </p:nvSpPr>
        <p:spPr>
          <a:xfrm>
            <a:off x="4251960" y="1691640"/>
            <a:ext cx="3657600" cy="1051560"/>
          </a:xfrm>
          <a:prstGeom prst="roundRect">
            <a:avLst>
              <a:gd name="adj" fmla="val 8000"/>
            </a:avLst>
          </a:prstGeom>
          <a:solidFill>
            <a:srgbClr val="EAF6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64592" tIns="91440" rtlCol="0" anchor="ctr"/>
          <a:lstStyle/>
          <a:p>
            <a:pPr algn="ctr">
              <a:spcAft>
                <a:spcPts val="200"/>
              </a:spcAft>
            </a:pPr>
            <a:r>
              <a:rPr sz="1300" b="1">
                <a:solidFill>
                  <a:srgbClr val="112D4E"/>
                </a:solidFill>
                <a:latin typeface="Calibri"/>
              </a:rPr>
              <a:t>Sol high</a:t>
            </a:r>
            <a:endParaRPr sz="1300" b="1">
              <a:solidFill>
                <a:srgbClr val="112D4E"/>
              </a:solidFill>
              <a:latin typeface="Calibri"/>
            </a:endParaRPr>
          </a:p>
          <a:p>
            <a:pPr>
              <a:spcAft>
                <a:spcPts val="200"/>
              </a:spcAft>
            </a:pPr>
            <a:r>
              <a:rPr sz="2600" b="1">
                <a:solidFill>
                  <a:srgbClr val="2E7D4F"/>
                </a:solidFill>
                <a:latin typeface="Calibri"/>
              </a:rPr>
              <a:t>$3.49</a:t>
            </a:r>
            <a:endParaRPr sz="2600" b="1">
              <a:solidFill>
                <a:srgbClr val="2E7D4F"/>
              </a:solidFill>
              <a:latin typeface="Calibri"/>
            </a:endParaRPr>
          </a:p>
          <a:p>
            <a:pPr>
              <a:spcAft>
                <a:spcPts val="200"/>
              </a:spcAft>
            </a:pPr>
            <a:r>
              <a:rPr sz="1100" b="0">
                <a:solidFill>
                  <a:srgbClr val="5A6A7A"/>
                </a:solidFill>
                <a:latin typeface="Calibri"/>
              </a:rPr>
              <a:t>gpt-5.6-sol · 310,755 in / 12,835 out (8,945 reasoning)</a:t>
            </a:r>
            <a:endParaRPr sz="1100" b="0">
              <a:solidFill>
                <a:srgbClr val="5A6A7A"/>
              </a:solidFill>
              <a:latin typeface="Calibri"/>
            </a:endParaRPr>
          </a:p>
        </p:txBody>
      </p:sp>
      <p:sp>
        <p:nvSpPr>
          <p:cNvPr id="9" name="Rounded Rectangle 8"/>
          <p:cNvSpPr/>
          <p:nvPr/>
        </p:nvSpPr>
        <p:spPr>
          <a:xfrm>
            <a:off x="8092440" y="1691640"/>
            <a:ext cx="3657600" cy="1051560"/>
          </a:xfrm>
          <a:prstGeom prst="roundRect">
            <a:avLst>
              <a:gd name="adj" fmla="val 8000"/>
            </a:avLst>
          </a:prstGeom>
          <a:solidFill>
            <a:srgbClr val="FDF3E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64592" tIns="91440" rtlCol="0" anchor="ctr"/>
          <a:lstStyle/>
          <a:p>
            <a:pPr algn="ctr">
              <a:spcAft>
                <a:spcPts val="200"/>
              </a:spcAft>
            </a:pPr>
            <a:r>
              <a:rPr sz="1300" b="1">
                <a:solidFill>
                  <a:srgbClr val="112D4E"/>
                </a:solidFill>
                <a:latin typeface="Calibri"/>
              </a:rPr>
              <a:t>Cost reduction</a:t>
            </a:r>
            <a:endParaRPr sz="1300" b="1">
              <a:solidFill>
                <a:srgbClr val="112D4E"/>
              </a:solidFill>
              <a:latin typeface="Calibri"/>
            </a:endParaRPr>
          </a:p>
          <a:p>
            <a:pPr>
              <a:spcAft>
                <a:spcPts val="200"/>
              </a:spcAft>
            </a:pPr>
            <a:r>
              <a:rPr sz="2600" b="1">
                <a:solidFill>
                  <a:srgbClr val="B47A1E"/>
                </a:solidFill>
                <a:latin typeface="Calibri"/>
              </a:rPr>
              <a:t>−63.3%</a:t>
            </a:r>
            <a:endParaRPr sz="2600" b="1">
              <a:solidFill>
                <a:srgbClr val="B47A1E"/>
              </a:solidFill>
              <a:latin typeface="Calibri"/>
            </a:endParaRPr>
          </a:p>
          <a:p>
            <a:pPr>
              <a:spcAft>
                <a:spcPts val="200"/>
              </a:spcAft>
            </a:pPr>
            <a:r>
              <a:rPr sz="1100" b="0">
                <a:solidFill>
                  <a:srgbClr val="5A6A7A"/>
                </a:solidFill>
                <a:latin typeface="Calibri"/>
              </a:rPr>
              <a:t>Same evidence packet, same executor, 0 rejected decisions</a:t>
            </a:r>
            <a:endParaRPr sz="1100" b="0">
              <a:solidFill>
                <a:srgbClr val="5A6A7A"/>
              </a:solidFill>
              <a:latin typeface="Calibri"/>
            </a:endParaRPr>
          </a:p>
        </p:txBody>
      </p:sp>
      <p:graphicFrame>
        <p:nvGraphicFramePr>
          <p:cNvPr id="10" name="Table 9"/>
          <p:cNvGraphicFramePr>
            <a:graphicFrameLocks noGrp="1"/>
          </p:cNvGraphicFramePr>
          <p:nvPr/>
        </p:nvGraphicFramePr>
        <p:xfrm>
          <a:off x="411480" y="3017520"/>
          <a:ext cx="11384280" cy="219456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4023360"/>
                <a:gridCol w="3840480"/>
                <a:gridCol w="3520440"/>
              </a:tblGrid>
              <a:tr h="365760">
                <a:tc>
                  <a:txBody>
                    <a:bodyPr/>
                    <a:lstStyle/>
                    <a:p>
                      <a:pPr algn="l"/>
                      <a:r>
                        <a:rPr sz="1300" b="1">
                          <a:solidFill>
                            <a:srgbClr val="112D4E"/>
                          </a:solidFill>
                          <a:latin typeface="Calibri"/>
                        </a:rPr>
                        <a:t>Metric (20-min window, 224 observations)</a:t>
                      </a:r>
                      <a:endParaRPr sz="1300" b="1">
                        <a:solidFill>
                          <a:srgbClr val="112D4E"/>
                        </a:solidFill>
                        <a:latin typeface="Calibri"/>
                      </a:endParaRPr>
                    </a:p>
                  </a:txBody>
                  <a:tcPr marL="73152" marR="54864" marT="25400" marB="254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300" b="1">
                          <a:solidFill>
                            <a:srgbClr val="112D4E"/>
                          </a:solidFill>
                          <a:latin typeface="Calibri"/>
                        </a:rPr>
                        <a:t>Astra round 1</a:t>
                      </a:r>
                      <a:endParaRPr sz="1300" b="1">
                        <a:solidFill>
                          <a:srgbClr val="112D4E"/>
                        </a:solidFill>
                        <a:latin typeface="Calibri"/>
                      </a:endParaRPr>
                    </a:p>
                  </a:txBody>
                  <a:tcPr marL="73152" marR="54864" marT="25400" marB="254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300" b="1">
                          <a:solidFill>
                            <a:srgbClr val="112D4E"/>
                          </a:solidFill>
                          <a:latin typeface="Calibri"/>
                        </a:rPr>
                        <a:t>Sol high</a:t>
                      </a:r>
                      <a:endParaRPr sz="1300" b="1">
                        <a:solidFill>
                          <a:srgbClr val="112D4E"/>
                        </a:solidFill>
                        <a:latin typeface="Calibri"/>
                      </a:endParaRPr>
                    </a:p>
                  </a:txBody>
                  <a:tcPr marL="73152" marR="54864" marT="25400" marB="25400" anchor="ctr"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/>
                      <a:r>
                        <a:rPr sz="1150" b="1">
                          <a:solidFill>
                            <a:srgbClr val="333333"/>
                          </a:solidFill>
                          <a:latin typeface="Calibri"/>
                        </a:rPr>
                        <a:t>Assigned observations</a:t>
                      </a:r>
                      <a:endParaRPr sz="1150" b="1">
                        <a:solidFill>
                          <a:srgbClr val="333333"/>
                        </a:solidFill>
                        <a:latin typeface="Calibri"/>
                      </a:endParaRPr>
                    </a:p>
                  </a:txBody>
                  <a:tcPr marL="73152" marR="54864" marT="25400" marB="254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150" b="0">
                          <a:solidFill>
                            <a:srgbClr val="333333"/>
                          </a:solidFill>
                          <a:latin typeface="Calibri"/>
                        </a:rPr>
                        <a:t>216 (96.4%)</a:t>
                      </a:r>
                      <a:endParaRPr sz="1150" b="0">
                        <a:solidFill>
                          <a:srgbClr val="333333"/>
                        </a:solidFill>
                        <a:latin typeface="Calibri"/>
                      </a:endParaRPr>
                    </a:p>
                  </a:txBody>
                  <a:tcPr marL="73152" marR="54864" marT="25400" marB="254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150" b="0">
                          <a:solidFill>
                            <a:srgbClr val="333333"/>
                          </a:solidFill>
                          <a:latin typeface="Calibri"/>
                        </a:rPr>
                        <a:t>220 (98.2%)</a:t>
                      </a:r>
                      <a:endParaRPr sz="1150" b="0">
                        <a:solidFill>
                          <a:srgbClr val="333333"/>
                        </a:solidFill>
                        <a:latin typeface="Calibri"/>
                      </a:endParaRPr>
                    </a:p>
                  </a:txBody>
                  <a:tcPr marL="73152" marR="54864" marT="25400" marB="25400" anchor="ctr"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/>
                      <a:r>
                        <a:rPr sz="1150" b="1">
                          <a:solidFill>
                            <a:srgbClr val="333333"/>
                          </a:solidFill>
                          <a:latin typeface="Calibri"/>
                        </a:rPr>
                        <a:t>Accepted / rejected decisions</a:t>
                      </a:r>
                      <a:endParaRPr sz="1150" b="1">
                        <a:solidFill>
                          <a:srgbClr val="333333"/>
                        </a:solidFill>
                        <a:latin typeface="Calibri"/>
                      </a:endParaRPr>
                    </a:p>
                  </a:txBody>
                  <a:tcPr marL="73152" marR="54864" marT="25400" marB="25400" anchor="ctr"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150" b="0">
                          <a:solidFill>
                            <a:srgbClr val="333333"/>
                          </a:solidFill>
                          <a:latin typeface="Calibri"/>
                        </a:rPr>
                        <a:t>71 / 4</a:t>
                      </a:r>
                      <a:endParaRPr sz="1150" b="0">
                        <a:solidFill>
                          <a:srgbClr val="333333"/>
                        </a:solidFill>
                        <a:latin typeface="Calibri"/>
                      </a:endParaRPr>
                    </a:p>
                  </a:txBody>
                  <a:tcPr marL="73152" marR="54864" marT="25400" marB="25400" anchor="ctr"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150" b="0">
                          <a:solidFill>
                            <a:srgbClr val="333333"/>
                          </a:solidFill>
                          <a:latin typeface="Calibri"/>
                        </a:rPr>
                        <a:t>15 / 0</a:t>
                      </a:r>
                      <a:endParaRPr sz="1150" b="0">
                        <a:solidFill>
                          <a:srgbClr val="333333"/>
                        </a:solidFill>
                        <a:latin typeface="Calibri"/>
                      </a:endParaRPr>
                    </a:p>
                  </a:txBody>
                  <a:tcPr marL="73152" marR="54864" marT="25400" marB="25400" anchor="ctr">
                    <a:solidFill>
                      <a:srgbClr val="F2F6FA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/>
                      <a:r>
                        <a:rPr sz="1150" b="1">
                          <a:solidFill>
                            <a:srgbClr val="333333"/>
                          </a:solidFill>
                          <a:latin typeface="Calibri"/>
                        </a:rPr>
                        <a:t>Canonical entities</a:t>
                      </a:r>
                      <a:endParaRPr sz="1150" b="1">
                        <a:solidFill>
                          <a:srgbClr val="333333"/>
                        </a:solidFill>
                        <a:latin typeface="Calibri"/>
                      </a:endParaRPr>
                    </a:p>
                  </a:txBody>
                  <a:tcPr marL="73152" marR="54864" marT="25400" marB="254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150" b="0">
                          <a:solidFill>
                            <a:srgbClr val="333333"/>
                          </a:solidFill>
                          <a:latin typeface="Calibri"/>
                        </a:rPr>
                        <a:t>4 (Jake 94, Xiu Shuo 58, +2 unnamed)</a:t>
                      </a:r>
                      <a:endParaRPr sz="1150" b="0">
                        <a:solidFill>
                          <a:srgbClr val="333333"/>
                        </a:solidFill>
                        <a:latin typeface="Calibri"/>
                      </a:endParaRPr>
                    </a:p>
                  </a:txBody>
                  <a:tcPr marL="73152" marR="54864" marT="25400" marB="254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150" b="0">
                          <a:solidFill>
                            <a:srgbClr val="333333"/>
                          </a:solidFill>
                          <a:latin typeface="Calibri"/>
                        </a:rPr>
                        <a:t>4 (Jake 100, Xiu Shuo 55, +2 unnamed)</a:t>
                      </a:r>
                      <a:endParaRPr sz="1150" b="0">
                        <a:solidFill>
                          <a:srgbClr val="333333"/>
                        </a:solidFill>
                        <a:latin typeface="Calibri"/>
                      </a:endParaRPr>
                    </a:p>
                  </a:txBody>
                  <a:tcPr marL="73152" marR="54864" marT="25400" marB="25400" anchor="ctr"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/>
                      <a:r>
                        <a:rPr sz="1150" b="1">
                          <a:solidFill>
                            <a:srgbClr val="333333"/>
                          </a:solidFill>
                          <a:latin typeface="Calibri"/>
                        </a:rPr>
                        <a:t>Agreement with Astra</a:t>
                      </a:r>
                      <a:endParaRPr sz="1150" b="1">
                        <a:solidFill>
                          <a:srgbClr val="333333"/>
                        </a:solidFill>
                        <a:latin typeface="Calibri"/>
                      </a:endParaRPr>
                    </a:p>
                  </a:txBody>
                  <a:tcPr marL="73152" marR="54864" marT="25400" marB="25400" anchor="ctr"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150" b="0">
                          <a:solidFill>
                            <a:srgbClr val="333333"/>
                          </a:solidFill>
                          <a:latin typeface="Calibri"/>
                        </a:rPr>
                        <a:t>—</a:t>
                      </a:r>
                      <a:endParaRPr sz="1150" b="0">
                        <a:solidFill>
                          <a:srgbClr val="333333"/>
                        </a:solidFill>
                        <a:latin typeface="Calibri"/>
                      </a:endParaRPr>
                    </a:p>
                  </a:txBody>
                  <a:tcPr marL="73152" marR="54864" marT="25400" marB="25400" anchor="ctr"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150" b="0">
                          <a:solidFill>
                            <a:srgbClr val="333333"/>
                          </a:solidFill>
                          <a:latin typeface="Calibri"/>
                        </a:rPr>
                        <a:t>209 same / 11 differ (4 new, 7 changed entity)</a:t>
                      </a:r>
                      <a:endParaRPr sz="1150" b="0">
                        <a:solidFill>
                          <a:srgbClr val="333333"/>
                        </a:solidFill>
                        <a:latin typeface="Calibri"/>
                      </a:endParaRPr>
                    </a:p>
                  </a:txBody>
                  <a:tcPr marL="73152" marR="54864" marT="25400" marB="25400" anchor="ctr">
                    <a:solidFill>
                      <a:srgbClr val="F2F6FA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/>
                      <a:r>
                        <a:rPr sz="1150" b="1">
                          <a:solidFill>
                            <a:srgbClr val="333333"/>
                          </a:solidFill>
                          <a:latin typeface="Calibri"/>
                        </a:rPr>
                        <a:t>Baseline for contrast</a:t>
                      </a:r>
                      <a:endParaRPr sz="1150" b="1">
                        <a:solidFill>
                          <a:srgbClr val="333333"/>
                        </a:solidFill>
                        <a:latin typeface="Calibri"/>
                      </a:endParaRPr>
                    </a:p>
                  </a:txBody>
                  <a:tcPr marL="73152" marR="54864" marT="25400" marB="254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150" b="0">
                          <a:solidFill>
                            <a:srgbClr val="333333"/>
                          </a:solidFill>
                          <a:latin typeface="Calibri"/>
                        </a:rPr>
                        <a:t>24 assigned (10.7%), 24 named</a:t>
                      </a:r>
                      <a:endParaRPr sz="1150" b="0">
                        <a:solidFill>
                          <a:srgbClr val="333333"/>
                        </a:solidFill>
                        <a:latin typeface="Calibri"/>
                      </a:endParaRPr>
                    </a:p>
                  </a:txBody>
                  <a:tcPr marL="73152" marR="54864" marT="25400" marB="254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150" b="0">
                          <a:solidFill>
                            <a:srgbClr val="333333"/>
                          </a:solidFill>
                          <a:latin typeface="Calibri"/>
                        </a:rPr>
                        <a:t>—</a:t>
                      </a:r>
                      <a:endParaRPr sz="1150" b="0">
                        <a:solidFill>
                          <a:srgbClr val="333333"/>
                        </a:solidFill>
                        <a:latin typeface="Calibri"/>
                      </a:endParaRPr>
                    </a:p>
                  </a:txBody>
                  <a:tcPr marL="73152" marR="54864" marT="25400" marB="25400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1" name="TextBox 10"/>
          <p:cNvSpPr txBox="1"/>
          <p:nvPr/>
        </p:nvSpPr>
        <p:spPr>
          <a:xfrm>
            <a:off x="411480" y="5349240"/>
            <a:ext cx="1133856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250" b="0">
                <a:solidFill>
                  <a:srgbClr val="333333"/>
                </a:solidFill>
                <a:latin typeface="Calibri"/>
              </a:rPr>
              <a:t>Two sequential Astra rounds lifted named coverage from 24 → 152 observations (67.9%); round 2 added 15 reference resolutions with zero assignment churn.</a:t>
            </a:r>
            <a:endParaRPr sz="1250" b="0">
              <a:solidFill>
                <a:srgbClr val="333333"/>
              </a:solidFill>
              <a:latin typeface="Calibri"/>
            </a:endParaRPr>
          </a:p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250" b="0" i="1">
                <a:solidFill>
                  <a:srgbClr val="5A6A7A"/>
                </a:solidFill>
                <a:latin typeface="Calibri"/>
              </a:rPr>
              <a:t>Caveat: coverage is measured, not identity accuracy — no independent identity gold set exists.</a:t>
            </a:r>
            <a:endParaRPr sz="1250" b="0" i="1">
              <a:solidFill>
                <a:srgbClr val="5A6A7A"/>
              </a:solidFill>
              <a:latin typeface="Calibri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1643055" y="6537960"/>
            <a:ext cx="4572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>
                <a:solidFill>
                  <a:srgbClr val="5A6A7A"/>
                </a:solidFill>
                <a:latin typeface="Calibri"/>
              </a:rPr>
              <a:t>10</a:t>
            </a:r>
            <a:endParaRPr sz="1000">
              <a:solidFill>
                <a:srgbClr val="5A6A7A"/>
              </a:solidFill>
              <a:latin typeface="Calibri"/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411480" y="201168"/>
            <a:ext cx="98755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3000" b="1">
                <a:solidFill>
                  <a:srgbClr val="112D4E"/>
                </a:solidFill>
                <a:latin typeface="Calibri"/>
              </a:rPr>
              <a:t>Cost analysis — current configuration</a:t>
            </a:r>
            <a:endParaRPr sz="3000" b="1">
              <a:solidFill>
                <a:srgbClr val="112D4E"/>
              </a:solidFill>
              <a:latin typeface="Calibri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9814255" y="320040"/>
            <a:ext cx="20116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lnSpc>
                <a:spcPct val="100000"/>
              </a:lnSpc>
              <a:spcAft>
                <a:spcPts val="400"/>
              </a:spcAft>
            </a:pPr>
            <a:r>
              <a:rPr sz="1300" b="1">
                <a:solidFill>
                  <a:srgbClr val="2E6DA4"/>
                </a:solidFill>
                <a:latin typeface="Calibri"/>
              </a:rPr>
              <a:t>COST</a:t>
            </a:r>
            <a:endParaRPr sz="1300" b="1">
              <a:solidFill>
                <a:srgbClr val="2E6DA4"/>
              </a:solidFill>
              <a:latin typeface="Calibri"/>
            </a:endParaRPr>
          </a:p>
        </p:txBody>
      </p:sp>
      <p:sp>
        <p:nvSpPr>
          <p:cNvPr id="5" name="Rectangle 4"/>
          <p:cNvSpPr/>
          <p:nvPr/>
        </p:nvSpPr>
        <p:spPr>
          <a:xfrm>
            <a:off x="411480" y="896112"/>
            <a:ext cx="11368735" cy="475488"/>
          </a:xfrm>
          <a:prstGeom prst="rect">
            <a:avLst/>
          </a:prstGeom>
          <a:noFill/>
          <a:ln w="12700">
            <a:solidFill>
              <a:srgbClr val="C9D4D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9728" tIns="54864" bIns="36576" rtlCol="0" anchor="ctr"/>
          <a:lstStyle/>
          <a:p>
            <a:pPr algn="ctr"/>
            <a:r>
              <a:rPr sz="1350">
                <a:solidFill>
                  <a:srgbClr val="5A6A7A"/>
                </a:solidFill>
                <a:latin typeface="Calibri"/>
              </a:rPr>
              <a:t>Where the money goes in the current Terra/Sol configuration, measured from retained request/usage records.</a:t>
            </a:r>
            <a:endParaRPr sz="1350">
              <a:solidFill>
                <a:srgbClr val="5A6A7A"/>
              </a:solidFill>
              <a:latin typeface="Calibri"/>
            </a:endParaRPr>
          </a:p>
        </p:txBody>
      </p:sp>
      <p:sp>
        <p:nvSpPr>
          <p:cNvPr id="6" name="Rectangle 5"/>
          <p:cNvSpPr/>
          <p:nvPr/>
        </p:nvSpPr>
        <p:spPr>
          <a:xfrm>
            <a:off x="411480" y="1481328"/>
            <a:ext cx="11368735" cy="19050"/>
          </a:xfrm>
          <a:prstGeom prst="rect">
            <a:avLst/>
          </a:prstGeom>
          <a:solidFill>
            <a:srgbClr val="C9D4D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11480" y="1691640"/>
            <a:ext cx="7315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300" b="1">
                <a:solidFill>
                  <a:srgbClr val="2E6DA4"/>
                </a:solidFill>
                <a:latin typeface="Calibri"/>
              </a:rPr>
              <a:t>Current configuration</a:t>
            </a:r>
            <a:endParaRPr sz="1300" b="1">
              <a:solidFill>
                <a:srgbClr val="2E6DA4"/>
              </a:solidFill>
              <a:latin typeface="Calibri"/>
            </a:endParaRPr>
          </a:p>
        </p:txBody>
      </p:sp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411480" y="2011680"/>
          <a:ext cx="11384280" cy="2103755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2377440"/>
                <a:gridCol w="5120640"/>
                <a:gridCol w="3886200"/>
              </a:tblGrid>
              <a:tr h="420624">
                <a:tc>
                  <a:txBody>
                    <a:bodyPr/>
                    <a:lstStyle/>
                    <a:p>
                      <a:pPr algn="l"/>
                      <a:r>
                        <a:rPr sz="1300" b="1">
                          <a:solidFill>
                            <a:srgbClr val="112D4E"/>
                          </a:solidFill>
                          <a:latin typeface="Calibri"/>
                        </a:rPr>
                        <a:t>Component</a:t>
                      </a:r>
                      <a:endParaRPr sz="1300" b="1">
                        <a:solidFill>
                          <a:srgbClr val="112D4E"/>
                        </a:solidFill>
                        <a:latin typeface="Calibri"/>
                      </a:endParaRPr>
                    </a:p>
                  </a:txBody>
                  <a:tcPr marL="73152" marR="54864" marT="25400" marB="254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300" b="1">
                          <a:solidFill>
                            <a:srgbClr val="112D4E"/>
                          </a:solidFill>
                          <a:latin typeface="Calibri"/>
                        </a:rPr>
                        <a:t>Model / setting</a:t>
                      </a:r>
                      <a:endParaRPr sz="1300" b="1">
                        <a:solidFill>
                          <a:srgbClr val="112D4E"/>
                        </a:solidFill>
                        <a:latin typeface="Calibri"/>
                      </a:endParaRPr>
                    </a:p>
                  </a:txBody>
                  <a:tcPr marL="73152" marR="54864" marT="25400" marB="254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300" b="1">
                          <a:solidFill>
                            <a:srgbClr val="112D4E"/>
                          </a:solidFill>
                          <a:latin typeface="Calibri"/>
                        </a:rPr>
                        <a:t>Volume</a:t>
                      </a:r>
                      <a:endParaRPr sz="1300" b="1">
                        <a:solidFill>
                          <a:srgbClr val="112D4E"/>
                        </a:solidFill>
                        <a:latin typeface="Calibri"/>
                      </a:endParaRPr>
                    </a:p>
                  </a:txBody>
                  <a:tcPr marL="73152" marR="54864" marT="25400" marB="25400" anchor="ctr">
                    <a:solidFill>
                      <a:srgbClr val="FFFFFF"/>
                    </a:solidFill>
                  </a:tcPr>
                </a:tc>
              </a:tr>
              <a:tr h="420624">
                <a:tc>
                  <a:txBody>
                    <a:bodyPr/>
                    <a:lstStyle/>
                    <a:p>
                      <a:pPr algn="l"/>
                      <a:r>
                        <a:rPr sz="1150" b="1">
                          <a:solidFill>
                            <a:srgbClr val="333333"/>
                          </a:solidFill>
                          <a:latin typeface="Calibri"/>
                        </a:rPr>
                        <a:t>Memory construction</a:t>
                      </a:r>
                      <a:endParaRPr sz="1150" b="1">
                        <a:solidFill>
                          <a:srgbClr val="333333"/>
                        </a:solidFill>
                        <a:latin typeface="Calibri"/>
                      </a:endParaRPr>
                    </a:p>
                  </a:txBody>
                  <a:tcPr marL="73152" marR="54864" marT="25400" marB="254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150" b="0">
                          <a:solidFill>
                            <a:srgbClr val="333333"/>
                          </a:solidFill>
                          <a:latin typeface="Calibri"/>
                        </a:rPr>
                        <a:t>gpt-5.6-terra, medium reasoning, 2 fps frames + face/voice evidence</a:t>
                      </a:r>
                      <a:endParaRPr sz="1150" b="0">
                        <a:solidFill>
                          <a:srgbClr val="333333"/>
                        </a:solidFill>
                        <a:latin typeface="Calibri"/>
                      </a:endParaRPr>
                    </a:p>
                  </a:txBody>
                  <a:tcPr marL="73152" marR="54864" marT="25400" marB="254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150" b="0">
                          <a:solidFill>
                            <a:srgbClr val="333333"/>
                          </a:solidFill>
                          <a:latin typeface="Calibri"/>
                        </a:rPr>
                        <a:t>1 structured request per ≤30 s clip (~91 clips / 2,400 s)</a:t>
                      </a:r>
                      <a:endParaRPr sz="1150" b="0">
                        <a:solidFill>
                          <a:srgbClr val="333333"/>
                        </a:solidFill>
                        <a:latin typeface="Calibri"/>
                      </a:endParaRPr>
                    </a:p>
                  </a:txBody>
                  <a:tcPr marL="73152" marR="54864" marT="25400" marB="25400" anchor="ctr">
                    <a:solidFill>
                      <a:srgbClr val="FFFFFF"/>
                    </a:solidFill>
                  </a:tcPr>
                </a:tc>
              </a:tr>
              <a:tr h="420624">
                <a:tc>
                  <a:txBody>
                    <a:bodyPr/>
                    <a:lstStyle/>
                    <a:p>
                      <a:pPr algn="l"/>
                      <a:r>
                        <a:rPr sz="1150" b="1">
                          <a:solidFill>
                            <a:srgbClr val="333333"/>
                          </a:solidFill>
                          <a:latin typeface="Calibri"/>
                        </a:rPr>
                        <a:t>Consolidation</a:t>
                      </a:r>
                      <a:endParaRPr sz="1150" b="1">
                        <a:solidFill>
                          <a:srgbClr val="333333"/>
                        </a:solidFill>
                        <a:latin typeface="Calibri"/>
                      </a:endParaRPr>
                    </a:p>
                  </a:txBody>
                  <a:tcPr marL="73152" marR="54864" marT="25400" marB="25400" anchor="ctr"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150" b="0">
                          <a:solidFill>
                            <a:srgbClr val="333333"/>
                          </a:solidFill>
                          <a:latin typeface="Calibri"/>
                        </a:rPr>
                        <a:t>gpt-5.6-sol, high reasoning (Astra tested on the same graph earlier)</a:t>
                      </a:r>
                      <a:endParaRPr sz="1150" b="0">
                        <a:solidFill>
                          <a:srgbClr val="333333"/>
                        </a:solidFill>
                        <a:latin typeface="Calibri"/>
                      </a:endParaRPr>
                    </a:p>
                  </a:txBody>
                  <a:tcPr marL="73152" marR="54864" marT="25400" marB="25400" anchor="ctr"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150" b="0">
                          <a:solidFill>
                            <a:srgbClr val="333333"/>
                          </a:solidFill>
                          <a:latin typeface="Calibri"/>
                        </a:rPr>
                        <a:t>1 window call per 1,200 media s</a:t>
                      </a:r>
                      <a:endParaRPr sz="1150" b="0">
                        <a:solidFill>
                          <a:srgbClr val="333333"/>
                        </a:solidFill>
                        <a:latin typeface="Calibri"/>
                      </a:endParaRPr>
                    </a:p>
                  </a:txBody>
                  <a:tcPr marL="73152" marR="54864" marT="25400" marB="25400" anchor="ctr">
                    <a:solidFill>
                      <a:srgbClr val="F2F6FA"/>
                    </a:solidFill>
                  </a:tcPr>
                </a:tc>
              </a:tr>
              <a:tr h="421005">
                <a:tc>
                  <a:txBody>
                    <a:bodyPr/>
                    <a:lstStyle/>
                    <a:p>
                      <a:pPr algn="l"/>
                      <a:r>
                        <a:rPr sz="1150" b="1">
                          <a:solidFill>
                            <a:srgbClr val="333333"/>
                          </a:solidFill>
                          <a:latin typeface="Calibri"/>
                        </a:rPr>
                        <a:t>Consolidation input</a:t>
                      </a:r>
                      <a:endParaRPr sz="1150" b="1">
                        <a:solidFill>
                          <a:srgbClr val="333333"/>
                        </a:solidFill>
                        <a:latin typeface="Calibri"/>
                      </a:endParaRPr>
                    </a:p>
                  </a:txBody>
                  <a:tcPr marL="73152" marR="54864" marT="25400" marB="254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150" b="0">
                          <a:solidFill>
                            <a:srgbClr val="333333"/>
                          </a:solidFill>
                          <a:latin typeface="Calibri"/>
                        </a:rPr>
                        <a:t>310,755 input tokens per window (285 KB packet; 310,752 cache-write)</a:t>
                      </a:r>
                      <a:endParaRPr sz="1150" b="0">
                        <a:solidFill>
                          <a:srgbClr val="333333"/>
                        </a:solidFill>
                        <a:latin typeface="Calibri"/>
                      </a:endParaRPr>
                    </a:p>
                  </a:txBody>
                  <a:tcPr marL="73152" marR="54864" marT="25400" marB="254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150" b="0">
                          <a:solidFill>
                            <a:srgbClr val="333333"/>
                          </a:solidFill>
                          <a:latin typeface="Calibri"/>
                        </a:rPr>
                        <a:t>12,835 output (8,945 reasoning)</a:t>
                      </a:r>
                      <a:endParaRPr sz="1150" b="0">
                        <a:solidFill>
                          <a:srgbClr val="333333"/>
                        </a:solidFill>
                        <a:latin typeface="Calibri"/>
                      </a:endParaRPr>
                    </a:p>
                  </a:txBody>
                  <a:tcPr marL="73152" marR="54864" marT="25400" marB="25400" anchor="ctr">
                    <a:solidFill>
                      <a:srgbClr val="FFFFFF"/>
                    </a:solidFill>
                  </a:tcPr>
                </a:tc>
              </a:tr>
              <a:tr h="420624">
                <a:tc>
                  <a:txBody>
                    <a:bodyPr/>
                    <a:lstStyle/>
                    <a:p>
                      <a:pPr algn="l"/>
                      <a:r>
                        <a:rPr sz="1150" b="1">
                          <a:solidFill>
                            <a:srgbClr val="333333"/>
                          </a:solidFill>
                          <a:latin typeface="Calibri"/>
                        </a:rPr>
                        <a:t>Retrieval / rerank</a:t>
                      </a:r>
                      <a:endParaRPr sz="1150" b="1">
                        <a:solidFill>
                          <a:srgbClr val="333333"/>
                        </a:solidFill>
                        <a:latin typeface="Calibri"/>
                      </a:endParaRPr>
                    </a:p>
                  </a:txBody>
                  <a:tcPr marL="73152" marR="54864" marT="25400" marB="25400" anchor="ctr"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150" b="0">
                          <a:solidFill>
                            <a:srgbClr val="333333"/>
                          </a:solidFill>
                          <a:latin typeface="Calibri"/>
                        </a:rPr>
                        <a:t>text-embedding-3-large + Qwen3-Reranker-0.6B via 302.AI</a:t>
                      </a:r>
                      <a:endParaRPr sz="1150" b="0">
                        <a:solidFill>
                          <a:srgbClr val="333333"/>
                        </a:solidFill>
                        <a:latin typeface="Calibri"/>
                      </a:endParaRPr>
                    </a:p>
                  </a:txBody>
                  <a:tcPr marL="73152" marR="54864" marT="25400" marB="25400" anchor="ctr"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150" b="0">
                          <a:solidFill>
                            <a:srgbClr val="333333"/>
                          </a:solidFill>
                          <a:latin typeface="Calibri"/>
                        </a:rPr>
                        <a:t>Per question + per snapshot index build</a:t>
                      </a:r>
                      <a:endParaRPr sz="1150" b="0">
                        <a:solidFill>
                          <a:srgbClr val="333333"/>
                        </a:solidFill>
                        <a:latin typeface="Calibri"/>
                      </a:endParaRPr>
                    </a:p>
                  </a:txBody>
                  <a:tcPr marL="73152" marR="54864" marT="25400" marB="25400" anchor="ctr">
                    <a:solidFill>
                      <a:srgbClr val="F2F6FA"/>
                    </a:solidFill>
                  </a:tcPr>
                </a:tc>
              </a:tr>
            </a:tbl>
          </a:graphicData>
        </a:graphic>
      </p:graphicFrame>
      <p:sp>
        <p:nvSpPr>
          <p:cNvPr id="9" name="TextBox 8"/>
          <p:cNvSpPr txBox="1"/>
          <p:nvPr/>
        </p:nvSpPr>
        <p:spPr>
          <a:xfrm>
            <a:off x="411480" y="4160520"/>
            <a:ext cx="7315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300" b="1">
                <a:solidFill>
                  <a:srgbClr val="2E6DA4"/>
                </a:solidFill>
                <a:latin typeface="Calibri"/>
              </a:rPr>
              <a:t>Measured costs</a:t>
            </a:r>
            <a:endParaRPr sz="1300" b="1">
              <a:solidFill>
                <a:srgbClr val="2E6DA4"/>
              </a:solidFill>
              <a:latin typeface="Calibri"/>
            </a:endParaRPr>
          </a:p>
        </p:txBody>
      </p:sp>
      <p:graphicFrame>
        <p:nvGraphicFramePr>
          <p:cNvPr id="10" name="Table 9"/>
          <p:cNvGraphicFramePr>
            <a:graphicFrameLocks noGrp="1"/>
          </p:cNvGraphicFramePr>
          <p:nvPr/>
        </p:nvGraphicFramePr>
        <p:xfrm>
          <a:off x="411480" y="4480560"/>
          <a:ext cx="11384280" cy="1937385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3474720"/>
                <a:gridCol w="2103120"/>
                <a:gridCol w="5806440"/>
              </a:tblGrid>
              <a:tr h="384048">
                <a:tc>
                  <a:txBody>
                    <a:bodyPr/>
                    <a:lstStyle/>
                    <a:p>
                      <a:pPr algn="l"/>
                      <a:r>
                        <a:rPr sz="1300" b="1">
                          <a:solidFill>
                            <a:srgbClr val="112D4E"/>
                          </a:solidFill>
                          <a:latin typeface="Calibri"/>
                        </a:rPr>
                        <a:t>Item</a:t>
                      </a:r>
                      <a:endParaRPr sz="1300" b="1">
                        <a:solidFill>
                          <a:srgbClr val="112D4E"/>
                        </a:solidFill>
                        <a:latin typeface="Calibri"/>
                      </a:endParaRPr>
                    </a:p>
                  </a:txBody>
                  <a:tcPr marL="73152" marR="54864" marT="25400" marB="254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300" b="1">
                          <a:solidFill>
                            <a:srgbClr val="112D4E"/>
                          </a:solidFill>
                          <a:latin typeface="Calibri"/>
                        </a:rPr>
                        <a:t>Cost</a:t>
                      </a:r>
                      <a:endParaRPr sz="1300" b="1">
                        <a:solidFill>
                          <a:srgbClr val="112D4E"/>
                        </a:solidFill>
                        <a:latin typeface="Calibri"/>
                      </a:endParaRPr>
                    </a:p>
                  </a:txBody>
                  <a:tcPr marL="73152" marR="54864" marT="25400" marB="254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300" b="1">
                          <a:solidFill>
                            <a:srgbClr val="112D4E"/>
                          </a:solidFill>
                          <a:latin typeface="Calibri"/>
                        </a:rPr>
                        <a:t>Basis</a:t>
                      </a:r>
                      <a:endParaRPr sz="1300" b="1">
                        <a:solidFill>
                          <a:srgbClr val="112D4E"/>
                        </a:solidFill>
                        <a:latin typeface="Calibri"/>
                      </a:endParaRPr>
                    </a:p>
                  </a:txBody>
                  <a:tcPr marL="73152" marR="54864" marT="25400" marB="25400" anchor="ctr"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/>
                      <a:r>
                        <a:rPr sz="1150" b="1">
                          <a:solidFill>
                            <a:srgbClr val="333333"/>
                          </a:solidFill>
                          <a:latin typeface="Calibri"/>
                        </a:rPr>
                        <a:t>Consolidation window — Astra high</a:t>
                      </a:r>
                      <a:endParaRPr sz="1150" b="1">
                        <a:solidFill>
                          <a:srgbClr val="333333"/>
                        </a:solidFill>
                        <a:latin typeface="Calibri"/>
                      </a:endParaRPr>
                    </a:p>
                  </a:txBody>
                  <a:tcPr marL="73152" marR="54864" marT="25400" marB="254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150" b="0">
                          <a:solidFill>
                            <a:srgbClr val="333333"/>
                          </a:solidFill>
                          <a:latin typeface="Calibri"/>
                        </a:rPr>
                        <a:t>$9.52 / window</a:t>
                      </a:r>
                      <a:endParaRPr sz="1150" b="0">
                        <a:solidFill>
                          <a:srgbClr val="333333"/>
                        </a:solidFill>
                        <a:latin typeface="Calibri"/>
                      </a:endParaRPr>
                    </a:p>
                  </a:txBody>
                  <a:tcPr marL="73152" marR="54864" marT="25400" marB="254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150" b="0">
                          <a:solidFill>
                            <a:srgbClr val="333333"/>
                          </a:solidFill>
                          <a:latin typeface="Calibri"/>
                        </a:rPr>
                        <a:t>Long-context (&gt;272K) rates: $25/M cache-write, $75/M output</a:t>
                      </a:r>
                      <a:endParaRPr sz="1150" b="0">
                        <a:solidFill>
                          <a:srgbClr val="333333"/>
                        </a:solidFill>
                        <a:latin typeface="Calibri"/>
                      </a:endParaRPr>
                    </a:p>
                  </a:txBody>
                  <a:tcPr marL="73152" marR="54864" marT="25400" marB="25400" anchor="ctr"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/>
                      <a:r>
                        <a:rPr sz="1150" b="1">
                          <a:solidFill>
                            <a:srgbClr val="333333"/>
                          </a:solidFill>
                          <a:latin typeface="Calibri"/>
                        </a:rPr>
                        <a:t>Consolidation window — Sol high</a:t>
                      </a:r>
                      <a:endParaRPr sz="1150" b="1">
                        <a:solidFill>
                          <a:srgbClr val="333333"/>
                        </a:solidFill>
                        <a:latin typeface="Calibri"/>
                      </a:endParaRPr>
                    </a:p>
                  </a:txBody>
                  <a:tcPr marL="73152" marR="54864" marT="25400" marB="25400" anchor="ctr"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150" b="0">
                          <a:solidFill>
                            <a:srgbClr val="333333"/>
                          </a:solidFill>
                          <a:latin typeface="Calibri"/>
                        </a:rPr>
                        <a:t>$3.49 / window</a:t>
                      </a:r>
                      <a:endParaRPr sz="1150" b="0">
                        <a:solidFill>
                          <a:srgbClr val="333333"/>
                        </a:solidFill>
                        <a:latin typeface="Calibri"/>
                      </a:endParaRPr>
                    </a:p>
                  </a:txBody>
                  <a:tcPr marL="73152" marR="54864" marT="25400" marB="25400" anchor="ctr"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150" b="0">
                          <a:solidFill>
                            <a:srgbClr val="333333"/>
                          </a:solidFill>
                          <a:latin typeface="Calibri"/>
                        </a:rPr>
                        <a:t>$10/M cache-write, $30/M output, $0.8/M cached input</a:t>
                      </a:r>
                      <a:endParaRPr sz="1150" b="0">
                        <a:solidFill>
                          <a:srgbClr val="333333"/>
                        </a:solidFill>
                        <a:latin typeface="Calibri"/>
                      </a:endParaRPr>
                    </a:p>
                  </a:txBody>
                  <a:tcPr marL="73152" marR="54864" marT="25400" marB="25400" anchor="ctr">
                    <a:solidFill>
                      <a:srgbClr val="F2F6FA"/>
                    </a:solidFill>
                  </a:tcPr>
                </a:tc>
              </a:tr>
              <a:tr h="401320">
                <a:tc>
                  <a:txBody>
                    <a:bodyPr/>
                    <a:lstStyle/>
                    <a:p>
                      <a:pPr algn="l"/>
                      <a:r>
                        <a:rPr sz="1150" b="1">
                          <a:solidFill>
                            <a:srgbClr val="333333"/>
                          </a:solidFill>
                          <a:latin typeface="Calibri"/>
                        </a:rPr>
                        <a:t>Construction — Terra, 2 fps</a:t>
                      </a:r>
                      <a:endParaRPr sz="1150" b="1">
                        <a:solidFill>
                          <a:srgbClr val="333333"/>
                        </a:solidFill>
                        <a:latin typeface="Calibri"/>
                      </a:endParaRPr>
                    </a:p>
                  </a:txBody>
                  <a:tcPr marL="73152" marR="54864" marT="25400" marB="254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150" b="0">
                          <a:solidFill>
                            <a:srgbClr val="333333"/>
                          </a:solidFill>
                          <a:latin typeface="Calibri"/>
                        </a:rPr>
                        <a:t>≈ $8 per stream-hour</a:t>
                      </a:r>
                      <a:endParaRPr sz="1150" b="0">
                        <a:solidFill>
                          <a:srgbClr val="333333"/>
                        </a:solidFill>
                        <a:latin typeface="Calibri"/>
                      </a:endParaRPr>
                    </a:p>
                  </a:txBody>
                  <a:tcPr marL="73152" marR="54864" marT="25400" marB="254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150" b="0">
                          <a:solidFill>
                            <a:srgbClr val="333333"/>
                          </a:solidFill>
                          <a:latin typeface="Calibri"/>
                        </a:rPr>
                        <a:t>≈23.6K in (cache-write $2.50/M) + ~0.6K out ($12/M) ≈ $0.066 per 30 s clip × 120 clips/h; mean of retained per-request usage records</a:t>
                      </a:r>
                      <a:endParaRPr sz="1150" b="0">
                        <a:solidFill>
                          <a:srgbClr val="333333"/>
                        </a:solidFill>
                        <a:latin typeface="Calibri"/>
                      </a:endParaRPr>
                    </a:p>
                  </a:txBody>
                  <a:tcPr marL="73152" marR="54864" marT="25400" marB="25400" anchor="ctr">
                    <a:solidFill>
                      <a:srgbClr val="FFFFFF"/>
                    </a:solidFill>
                  </a:tcPr>
                </a:tc>
              </a:tr>
              <a:tr h="401320">
                <a:tc>
                  <a:txBody>
                    <a:bodyPr/>
                    <a:p>
                      <a:pPr algn="l">
                        <a:buNone/>
                      </a:pPr>
                      <a:r>
                        <a:rPr lang="en-US" sz="1150" b="1">
                          <a:solidFill>
                            <a:srgbClr val="333333"/>
                          </a:solidFill>
                          <a:latin typeface="Calibri"/>
                        </a:rPr>
                        <a:t>Total cost: 4 hour*8+12*3.5=$74 four 4 hour,  </a:t>
                      </a:r>
                      <a:endParaRPr lang="en-US" sz="1150" b="1">
                        <a:solidFill>
                          <a:srgbClr val="333333"/>
                        </a:solidFill>
                        <a:latin typeface="Calibri"/>
                      </a:endParaRPr>
                    </a:p>
                  </a:txBody>
                  <a:tcPr marL="73152" marR="54864" marT="25400" marB="254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p>
                      <a:pPr algn="r">
                        <a:buNone/>
                      </a:pPr>
                      <a:r>
                        <a:rPr lang="en-US" sz="1150" b="1">
                          <a:solidFill>
                            <a:srgbClr val="333333"/>
                          </a:solidFill>
                          <a:latin typeface="Calibri"/>
                          <a:sym typeface="+mn-ea"/>
                        </a:rPr>
                        <a:t>Other cost: 5 rounds of Astra for Sol memory consolidation comparison</a:t>
                      </a:r>
                      <a:endParaRPr lang="en-US" sz="1150" b="1">
                        <a:solidFill>
                          <a:srgbClr val="333333"/>
                        </a:solidFill>
                        <a:latin typeface="Calibri"/>
                      </a:endParaRPr>
                    </a:p>
                    <a:p>
                      <a:pPr algn="r">
                        <a:buNone/>
                      </a:pPr>
                      <a:endParaRPr lang="en-US" sz="1150" b="0">
                        <a:solidFill>
                          <a:srgbClr val="333333"/>
                        </a:solidFill>
                        <a:latin typeface="Calibri"/>
                      </a:endParaRPr>
                    </a:p>
                  </a:txBody>
                  <a:tcPr marL="73152" marR="54864" marT="25400" marB="254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p>
                      <a:pPr algn="r">
                        <a:buNone/>
                      </a:pPr>
                      <a:endParaRPr lang="en-US" sz="1150" b="0">
                        <a:solidFill>
                          <a:srgbClr val="333333"/>
                        </a:solidFill>
                        <a:latin typeface="Calibri"/>
                      </a:endParaRPr>
                    </a:p>
                  </a:txBody>
                  <a:tcPr marL="73152" marR="54864" marT="25400" marB="25400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1643055" y="6537960"/>
            <a:ext cx="4572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>
                <a:solidFill>
                  <a:srgbClr val="5A6A7A"/>
                </a:solidFill>
                <a:latin typeface="Calibri"/>
              </a:rPr>
              <a:t>11</a:t>
            </a:r>
            <a:endParaRPr sz="1000">
              <a:solidFill>
                <a:srgbClr val="5A6A7A"/>
              </a:solidFill>
              <a:latin typeface="Calibri"/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411480" y="201168"/>
            <a:ext cx="98755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3000" b="1">
                <a:solidFill>
                  <a:srgbClr val="112D4E"/>
                </a:solidFill>
                <a:latin typeface="Calibri"/>
              </a:rPr>
              <a:t>Next steps — 10-hour run on a cheaper stack</a:t>
            </a:r>
            <a:endParaRPr sz="3000" b="1">
              <a:solidFill>
                <a:srgbClr val="112D4E"/>
              </a:solidFill>
              <a:latin typeface="Calibri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9814255" y="320040"/>
            <a:ext cx="20116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lnSpc>
                <a:spcPct val="100000"/>
              </a:lnSpc>
              <a:spcAft>
                <a:spcPts val="400"/>
              </a:spcAft>
            </a:pPr>
            <a:r>
              <a:rPr sz="1300" b="1">
                <a:solidFill>
                  <a:srgbClr val="2E6DA4"/>
                </a:solidFill>
                <a:latin typeface="Calibri"/>
              </a:rPr>
              <a:t>PLAN</a:t>
            </a:r>
            <a:endParaRPr sz="1300" b="1">
              <a:solidFill>
                <a:srgbClr val="2E6DA4"/>
              </a:solidFill>
              <a:latin typeface="Calibri"/>
            </a:endParaRPr>
          </a:p>
        </p:txBody>
      </p:sp>
      <p:sp>
        <p:nvSpPr>
          <p:cNvPr id="5" name="Rectangle 4"/>
          <p:cNvSpPr/>
          <p:nvPr/>
        </p:nvSpPr>
        <p:spPr>
          <a:xfrm>
            <a:off x="411480" y="896112"/>
            <a:ext cx="11368735" cy="475488"/>
          </a:xfrm>
          <a:prstGeom prst="rect">
            <a:avLst/>
          </a:prstGeom>
          <a:noFill/>
          <a:ln w="12700">
            <a:solidFill>
              <a:srgbClr val="C9D4D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9728" tIns="54864" bIns="36576" rtlCol="0" anchor="ctr"/>
          <a:lstStyle/>
          <a:p>
            <a:pPr algn="ctr"/>
            <a:r>
              <a:rPr sz="1350">
                <a:solidFill>
                  <a:srgbClr val="5A6A7A"/>
                </a:solidFill>
                <a:latin typeface="Calibri"/>
              </a:rPr>
              <a:t>Luna as primary construction backend, Sol for occasional consolidation, 1 fps sampling, TST dropped (single native voice path).</a:t>
            </a:r>
            <a:endParaRPr sz="1350">
              <a:solidFill>
                <a:srgbClr val="5A6A7A"/>
              </a:solidFill>
              <a:latin typeface="Calibri"/>
            </a:endParaRPr>
          </a:p>
        </p:txBody>
      </p:sp>
      <p:sp>
        <p:nvSpPr>
          <p:cNvPr id="6" name="Rectangle 5"/>
          <p:cNvSpPr/>
          <p:nvPr/>
        </p:nvSpPr>
        <p:spPr>
          <a:xfrm>
            <a:off x="411480" y="1481328"/>
            <a:ext cx="11368735" cy="19050"/>
          </a:xfrm>
          <a:prstGeom prst="rect">
            <a:avLst/>
          </a:prstGeom>
          <a:solidFill>
            <a:srgbClr val="C9D4D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11480" y="1691640"/>
            <a:ext cx="7315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300" b="1">
                <a:solidFill>
                  <a:srgbClr val="2E6DA4"/>
                </a:solidFill>
                <a:latin typeface="Calibri"/>
              </a:rPr>
              <a:t>Estimated cost — 10 h stream + question schedule</a:t>
            </a:r>
            <a:endParaRPr sz="1300" b="1">
              <a:solidFill>
                <a:srgbClr val="2E6DA4"/>
              </a:solidFill>
              <a:latin typeface="Calibri"/>
            </a:endParaRPr>
          </a:p>
        </p:txBody>
      </p:sp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411480" y="2011680"/>
          <a:ext cx="11384280" cy="201168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2286000"/>
                <a:gridCol w="3931920"/>
                <a:gridCol w="5166360"/>
              </a:tblGrid>
              <a:tr h="402336">
                <a:tc>
                  <a:txBody>
                    <a:bodyPr/>
                    <a:lstStyle/>
                    <a:p>
                      <a:pPr algn="l"/>
                      <a:r>
                        <a:rPr sz="1300" b="1">
                          <a:solidFill>
                            <a:srgbClr val="112D4E"/>
                          </a:solidFill>
                          <a:latin typeface="Calibri"/>
                        </a:rPr>
                        <a:t>Component</a:t>
                      </a:r>
                      <a:endParaRPr sz="1300" b="1">
                        <a:solidFill>
                          <a:srgbClr val="112D4E"/>
                        </a:solidFill>
                        <a:latin typeface="Calibri"/>
                      </a:endParaRPr>
                    </a:p>
                  </a:txBody>
                  <a:tcPr marL="73152" marR="54864" marT="25400" marB="254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300" b="1">
                          <a:solidFill>
                            <a:srgbClr val="112D4E"/>
                          </a:solidFill>
                          <a:latin typeface="Calibri"/>
                        </a:rPr>
                        <a:t>Configuration</a:t>
                      </a:r>
                      <a:endParaRPr sz="1300" b="1">
                        <a:solidFill>
                          <a:srgbClr val="112D4E"/>
                        </a:solidFill>
                        <a:latin typeface="Calibri"/>
                      </a:endParaRPr>
                    </a:p>
                  </a:txBody>
                  <a:tcPr marL="73152" marR="54864" marT="25400" marB="254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300" b="1">
                          <a:solidFill>
                            <a:srgbClr val="112D4E"/>
                          </a:solidFill>
                          <a:latin typeface="Calibri"/>
                        </a:rPr>
                        <a:t>Estimate</a:t>
                      </a:r>
                      <a:endParaRPr sz="1300" b="1">
                        <a:solidFill>
                          <a:srgbClr val="112D4E"/>
                        </a:solidFill>
                        <a:latin typeface="Calibri"/>
                      </a:endParaRPr>
                    </a:p>
                  </a:txBody>
                  <a:tcPr marL="73152" marR="54864" marT="25400" marB="25400" anchor="ctr">
                    <a:solidFill>
                      <a:srgbClr val="FFFFFF"/>
                    </a:solidFill>
                  </a:tcPr>
                </a:tc>
              </a:tr>
              <a:tr h="402336">
                <a:tc>
                  <a:txBody>
                    <a:bodyPr/>
                    <a:lstStyle/>
                    <a:p>
                      <a:pPr algn="l"/>
                      <a:r>
                        <a:rPr sz="1150" b="1">
                          <a:solidFill>
                            <a:srgbClr val="333333"/>
                          </a:solidFill>
                          <a:latin typeface="Calibri"/>
                        </a:rPr>
                        <a:t>Construction</a:t>
                      </a:r>
                      <a:endParaRPr sz="1150" b="1">
                        <a:solidFill>
                          <a:srgbClr val="333333"/>
                        </a:solidFill>
                        <a:latin typeface="Calibri"/>
                      </a:endParaRPr>
                    </a:p>
                  </a:txBody>
                  <a:tcPr marL="73152" marR="54864" marT="25400" marB="254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150" b="0">
                          <a:solidFill>
                            <a:srgbClr val="333333"/>
                          </a:solidFill>
                          <a:latin typeface="Calibri"/>
                        </a:rPr>
                        <a:t>gpt-5.6-luna, 1 fps, 1,200 clips (30 s)</a:t>
                      </a:r>
                      <a:endParaRPr sz="1150" b="0">
                        <a:solidFill>
                          <a:srgbClr val="333333"/>
                        </a:solidFill>
                        <a:latin typeface="Calibri"/>
                      </a:endParaRPr>
                    </a:p>
                  </a:txBody>
                  <a:tcPr marL="73152" marR="54864" marT="25400" marB="254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150" b="0">
                          <a:solidFill>
                            <a:srgbClr val="333333"/>
                          </a:solidFill>
                          <a:latin typeface="Calibri"/>
                        </a:rPr>
                        <a:t>≈ $4–5  (~$0.004/clip: ~12K in @ $0.25/M cache-write + ~0.6K out @ $1.20/M)</a:t>
                      </a:r>
                      <a:endParaRPr sz="1150" b="0">
                        <a:solidFill>
                          <a:srgbClr val="333333"/>
                        </a:solidFill>
                        <a:latin typeface="Calibri"/>
                      </a:endParaRPr>
                    </a:p>
                  </a:txBody>
                  <a:tcPr marL="73152" marR="54864" marT="25400" marB="25400" anchor="ctr">
                    <a:solidFill>
                      <a:srgbClr val="FFFFFF"/>
                    </a:solidFill>
                  </a:tcPr>
                </a:tc>
              </a:tr>
              <a:tr h="402336">
                <a:tc>
                  <a:txBody>
                    <a:bodyPr/>
                    <a:lstStyle/>
                    <a:p>
                      <a:pPr algn="l"/>
                      <a:r>
                        <a:rPr sz="1150" b="1">
                          <a:solidFill>
                            <a:srgbClr val="333333"/>
                          </a:solidFill>
                          <a:latin typeface="Calibri"/>
                        </a:rPr>
                        <a:t>Consolidation</a:t>
                      </a:r>
                      <a:endParaRPr sz="1150" b="1">
                        <a:solidFill>
                          <a:srgbClr val="333333"/>
                        </a:solidFill>
                        <a:latin typeface="Calibri"/>
                      </a:endParaRPr>
                    </a:p>
                  </a:txBody>
                  <a:tcPr marL="73152" marR="54864" marT="25400" marB="25400" anchor="ctr"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150" b="0">
                          <a:solidFill>
                            <a:srgbClr val="333333"/>
                          </a:solidFill>
                          <a:latin typeface="Calibri"/>
                        </a:rPr>
                        <a:t>gpt-5.6-sol high, every 2,400 s → 15 windows</a:t>
                      </a:r>
                      <a:endParaRPr sz="1150" b="0">
                        <a:solidFill>
                          <a:srgbClr val="333333"/>
                        </a:solidFill>
                        <a:latin typeface="Calibri"/>
                      </a:endParaRPr>
                    </a:p>
                  </a:txBody>
                  <a:tcPr marL="73152" marR="54864" marT="25400" marB="25400" anchor="ctr"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150" b="0">
                          <a:solidFill>
                            <a:srgbClr val="333333"/>
                          </a:solidFill>
                          <a:latin typeface="Calibri"/>
                        </a:rPr>
                        <a:t>≈ $70–75  (context grows past 272K → long-context rates; $3.49 measured for the first window)</a:t>
                      </a:r>
                      <a:endParaRPr sz="1150" b="0">
                        <a:solidFill>
                          <a:srgbClr val="333333"/>
                        </a:solidFill>
                        <a:latin typeface="Calibri"/>
                      </a:endParaRPr>
                    </a:p>
                  </a:txBody>
                  <a:tcPr marL="73152" marR="54864" marT="25400" marB="25400" anchor="ctr">
                    <a:solidFill>
                      <a:srgbClr val="F2F6FA"/>
                    </a:solidFill>
                  </a:tcPr>
                </a:tc>
              </a:tr>
              <a:tr h="402336">
                <a:tc>
                  <a:txBody>
                    <a:bodyPr/>
                    <a:lstStyle/>
                    <a:p>
                      <a:pPr algn="l"/>
                      <a:r>
                        <a:rPr sz="1150" b="1">
                          <a:solidFill>
                            <a:srgbClr val="333333"/>
                          </a:solidFill>
                          <a:latin typeface="Calibri"/>
                        </a:rPr>
                        <a:t>QA + embeddings + rerank</a:t>
                      </a:r>
                      <a:endParaRPr sz="1150" b="1">
                        <a:solidFill>
                          <a:srgbClr val="333333"/>
                        </a:solidFill>
                        <a:latin typeface="Calibri"/>
                      </a:endParaRPr>
                    </a:p>
                  </a:txBody>
                  <a:tcPr marL="73152" marR="54864" marT="25400" marB="254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150" b="0">
                          <a:solidFill>
                            <a:srgbClr val="333333"/>
                          </a:solidFill>
                          <a:latin typeface="Calibri"/>
                        </a:rPr>
                        <a:t>Terra answers · text-embedding-3-large · Qwen3-0.6B via 302.AI</a:t>
                      </a:r>
                      <a:endParaRPr sz="1150" b="0">
                        <a:solidFill>
                          <a:srgbClr val="333333"/>
                        </a:solidFill>
                        <a:latin typeface="Calibri"/>
                      </a:endParaRPr>
                    </a:p>
                  </a:txBody>
                  <a:tcPr marL="73152" marR="54864" marT="25400" marB="254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150" b="0">
                          <a:solidFill>
                            <a:srgbClr val="333333"/>
                          </a:solidFill>
                          <a:latin typeface="Calibri"/>
                        </a:rPr>
                        <a:t>≈ $2–3</a:t>
                      </a:r>
                      <a:endParaRPr sz="1150" b="0">
                        <a:solidFill>
                          <a:srgbClr val="333333"/>
                        </a:solidFill>
                        <a:latin typeface="Calibri"/>
                      </a:endParaRPr>
                    </a:p>
                  </a:txBody>
                  <a:tcPr marL="73152" marR="54864" marT="25400" marB="25400" anchor="ctr">
                    <a:solidFill>
                      <a:srgbClr val="FFFFFF"/>
                    </a:solidFill>
                  </a:tcPr>
                </a:tc>
              </a:tr>
              <a:tr h="402336">
                <a:tc>
                  <a:txBody>
                    <a:bodyPr/>
                    <a:lstStyle/>
                    <a:p>
                      <a:pPr algn="l"/>
                      <a:r>
                        <a:rPr sz="1150" b="1">
                          <a:solidFill>
                            <a:srgbClr val="112D4E"/>
                          </a:solidFill>
                          <a:latin typeface="Calibri"/>
                        </a:rPr>
                        <a:t>Total per 10 h dataset</a:t>
                      </a:r>
                      <a:endParaRPr sz="1150" b="1">
                        <a:solidFill>
                          <a:srgbClr val="112D4E"/>
                        </a:solidFill>
                        <a:latin typeface="Calibri"/>
                      </a:endParaRPr>
                    </a:p>
                  </a:txBody>
                  <a:tcPr marL="73152" marR="54864" marT="25400" marB="25400" anchor="ctr"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endParaRPr sz="1150" b="1">
                        <a:solidFill>
                          <a:srgbClr val="112D4E"/>
                        </a:solidFill>
                        <a:latin typeface="Calibri"/>
                      </a:endParaRPr>
                    </a:p>
                  </a:txBody>
                  <a:tcPr marL="73152" marR="54864" marT="25400" marB="25400" anchor="ctr"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150" b="1">
                          <a:solidFill>
                            <a:srgbClr val="112D4E"/>
                          </a:solidFill>
                          <a:latin typeface="Calibri"/>
                        </a:rPr>
                        <a:t>≈ $80  </a:t>
                      </a:r>
                      <a:endParaRPr sz="1150" b="1">
                        <a:solidFill>
                          <a:srgbClr val="112D4E"/>
                        </a:solidFill>
                        <a:latin typeface="Calibri"/>
                      </a:endParaRPr>
                    </a:p>
                  </a:txBody>
                  <a:tcPr marL="73152" marR="54864" marT="25400" marB="25400" anchor="ctr">
                    <a:solidFill>
                      <a:srgbClr val="F2F6FA"/>
                    </a:solidFill>
                  </a:tcPr>
                </a:tc>
              </a:tr>
            </a:tbl>
          </a:graphicData>
        </a:graphic>
      </p:graphicFrame>
      <p:sp>
        <p:nvSpPr>
          <p:cNvPr id="9" name="TextBox 8"/>
          <p:cNvSpPr txBox="1"/>
          <p:nvPr/>
        </p:nvSpPr>
        <p:spPr>
          <a:xfrm>
            <a:off x="411480" y="4160520"/>
            <a:ext cx="113385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100" b="0">
                <a:solidFill>
                  <a:srgbClr val="5A6A7A"/>
                </a:solidFill>
                <a:latin typeface="Calibri"/>
              </a:rPr>
              <a:t>Prices: OpenAI API pricing, Sept 2026 — Luna $0.20/M in, $1.20/M out (long context $0.40/$1.80); Terra $2.50/M cache-write, $12/M out. Construction drops ~20×; consolidation becomes the dominant cost.</a:t>
            </a:r>
            <a:endParaRPr sz="1100" b="0">
              <a:solidFill>
                <a:srgbClr val="5A6A7A"/>
              </a:solidFill>
              <a:latin typeface="Calibri"/>
            </a:endParaRPr>
          </a:p>
        </p:txBody>
      </p:sp>
      <p:sp>
        <p:nvSpPr>
          <p:cNvPr id="10" name="TextBox 9"/>
          <p:cNvSpPr txBox="1"/>
          <p:nvPr/>
        </p:nvSpPr>
        <p:spPr>
          <a:xfrm>
            <a:off x="411480" y="4663440"/>
            <a:ext cx="1133856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04000"/>
              </a:lnSpc>
              <a:spcAft>
                <a:spcPts val="600"/>
              </a:spcAft>
            </a:pPr>
            <a:r>
              <a:rPr sz="1250" b="1">
                <a:solidFill>
                  <a:srgbClr val="333333"/>
                </a:solidFill>
                <a:latin typeface="Calibri"/>
              </a:rPr>
              <a:t>•  1 · Run the 10-hour stream</a:t>
            </a:r>
            <a:r>
              <a:rPr sz="1250" b="0">
                <a:solidFill>
                  <a:srgbClr val="333333"/>
                </a:solidFill>
                <a:latin typeface="Calibri"/>
              </a:rPr>
              <a:t> with the configuration above; keep the fail-closed contract and the immutable-snapshot QA schedule.</a:t>
            </a:r>
            <a:endParaRPr sz="1250" b="0">
              <a:solidFill>
                <a:srgbClr val="333333"/>
              </a:solidFill>
              <a:latin typeface="Calibri"/>
            </a:endParaRPr>
          </a:p>
          <a:p>
            <a:pPr>
              <a:lnSpc>
                <a:spcPct val="104000"/>
              </a:lnSpc>
              <a:spcAft>
                <a:spcPts val="600"/>
              </a:spcAft>
            </a:pPr>
            <a:r>
              <a:rPr sz="1250" b="1">
                <a:solidFill>
                  <a:srgbClr val="333333"/>
                </a:solidFill>
                <a:latin typeface="Calibri"/>
              </a:rPr>
              <a:t>•  2 · Close out the current Terra/Sol run</a:t>
            </a:r>
            <a:r>
              <a:rPr sz="1250" b="0">
                <a:solidFill>
                  <a:srgbClr val="333333"/>
                </a:solidFill>
                <a:latin typeface="Calibri"/>
              </a:rPr>
              <a:t> — fix the 302.AI dense-embedding rejection (1,881-unit batch), resume Jake from event 109, then run the AEA 6 h schedule.</a:t>
            </a:r>
            <a:endParaRPr sz="1250" b="0">
              <a:solidFill>
                <a:srgbClr val="333333"/>
              </a:solidFill>
              <a:latin typeface="Calibri"/>
            </a:endParaRPr>
          </a:p>
          <a:p>
            <a:pPr>
              <a:lnSpc>
                <a:spcPct val="104000"/>
              </a:lnSpc>
              <a:spcAft>
                <a:spcPts val="600"/>
              </a:spcAft>
            </a:pPr>
            <a:r>
              <a:rPr sz="1250" b="1">
                <a:solidFill>
                  <a:srgbClr val="333333"/>
                </a:solidFill>
                <a:latin typeface="Calibri"/>
              </a:rPr>
              <a:t>•  3 · Deferred TST evaluation</a:t>
            </a:r>
            <a:r>
              <a:rPr sz="1250" b="0">
                <a:solidFill>
                  <a:srgbClr val="333333"/>
                </a:solidFill>
                <a:latin typeface="Calibri"/>
              </a:rPr>
              <a:t> — frozen-enrollment A/B/C/D comparison (CAM++ / cosine / AS-Norm / AS-Norm+top3) with calibrated DIR@FAR remains a separate offline deliverable.</a:t>
            </a:r>
            <a:endParaRPr sz="1250" b="0">
              <a:solidFill>
                <a:srgbClr val="333333"/>
              </a:solidFill>
              <a:latin typeface="Calibri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12194</Words>
  <Application>WPS Spreadsheets</Application>
  <PresentationFormat>On-screen Show (4:3)</PresentationFormat>
  <Paragraphs>725</Paragraphs>
  <Slides>11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12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11</vt:i4>
      </vt:variant>
    </vt:vector>
  </HeadingPairs>
  <TitlesOfParts>
    <vt:vector size="24" baseType="lpstr">
      <vt:lpstr>Arial</vt:lpstr>
      <vt:lpstr>宋体</vt:lpstr>
      <vt:lpstr>Wingdings</vt:lpstr>
      <vt:lpstr>Arial</vt:lpstr>
      <vt:lpstr>Calibri</vt:lpstr>
      <vt:lpstr>Helvetica Neue</vt:lpstr>
      <vt:lpstr>微软雅黑</vt:lpstr>
      <vt:lpstr>汉仪旗黑</vt:lpstr>
      <vt:lpstr>宋体</vt:lpstr>
      <vt:lpstr>Arial Unicode MS</vt:lpstr>
      <vt:lpstr>汉仪书宋二KW</vt:lpstr>
      <vt:lpstr>Calibri</vt:lpstr>
      <vt:lpstr>Office Theme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dc:description>generated using python-pptx</dc:description>
  <cp:lastModifiedBy>Wilson</cp:lastModifiedBy>
  <cp:revision>2</cp:revision>
  <dcterms:created xsi:type="dcterms:W3CDTF">2026-09-19T13:44:52Z</dcterms:created>
  <dcterms:modified xsi:type="dcterms:W3CDTF">2026-09-19T13:44:52Z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60806D60013E59C1D491AE6A1E34909E_42</vt:lpwstr>
  </property>
  <property fmtid="{D5CDD505-2E9C-101B-9397-08002B2CF9AE}" pid="3" name="KSOProductBuildVer">
    <vt:lpwstr>1033-6.5.2.8766</vt:lpwstr>
  </property>
</Properties>
</file>