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Online Long-Horizon Memory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BFD4E6"/>
                </a:solidFill>
                <a:latin typeface="Calibri"/>
              </a:rPr>
              <a:t>Streaming video memory construction, consolidation, and retrieval — Terra / Sol run 20260918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BFD4E6"/>
                </a:solidFill>
                <a:latin typeface="Calibri"/>
              </a:rPr>
              <a:t>StreamMeCo (M3) × Mandol × consolidation runtime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BFD4E6"/>
                </a:solidFill>
                <a:latin typeface="Calibri"/>
              </a:rPr>
              <a:t>EgoLife Jake Day 1 (102 QA) + AEA 6 h (1,000 QA) · RTX A6000 · Hyperstack 1042997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F0C87A"/>
                </a:solidFill>
                <a:latin typeface="Calibri"/>
              </a:rPr>
              <a:t>Status: Jake prefix 0–2,808 s evaluated; run halted at 302.AI embedding failure (fail-closed)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8FA6BC"/>
                </a:solidFill>
                <a:latin typeface="Calibri"/>
              </a:rPr>
              <a:t>18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TST — target speaker tagging (voice identity mapping)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TST ·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Paper-informed mapping (arXiv:2606.14091) with a standard pretrained ECAPA-TDNN; CAM++ kept unchanged as baseline.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Encoder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2E6DA4"/>
                </a:solidFill>
                <a:latin typeface="Calibri"/>
              </a:rPr>
              <a:t>ECAPA-TDNN · 192-d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SpeechBrain spkrec-ecapa-voxceleb, pinned revision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9164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Windows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2E7D4F"/>
                </a:solidFill>
                <a:latin typeface="Calibri"/>
              </a:rPr>
              <a:t>4 s / 1.5 s shift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Sliding windows; end-aligned tail; no synthetic padding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9164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Decision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B47A1E"/>
                </a:solidFill>
                <a:latin typeface="Calibri"/>
              </a:rPr>
              <a:t>argmax ≥ θ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Open-set: highest enrolled identity else non_target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71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Scoring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9184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Score pooling:</a:t>
            </a:r>
            <a:r>
              <a:rPr sz="1300" b="0">
                <a:solidFill>
                  <a:srgbClr val="333333"/>
                </a:solidFill>
                <a:latin typeface="Calibri"/>
              </a:rPr>
              <a:t> mean of all window-pair trial scores — never centroid cosine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AS-Norm:</a:t>
            </a:r>
            <a:r>
              <a:rPr sz="1300" b="0">
                <a:solidFill>
                  <a:srgbClr val="333333"/>
                </a:solidFill>
                <a:latin typeface="Calibri"/>
              </a:rPr>
              <a:t> symmetric adaptive normalization over a 2,000-speaker VoxBlink2 cohort (top-20)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Compensation:</a:t>
            </a:r>
            <a:r>
              <a:rPr sz="1300" b="0">
                <a:solidFill>
                  <a:srgbClr val="333333"/>
                </a:solidFill>
                <a:latin typeface="Calibri"/>
              </a:rPr>
              <a:t> top-N (1/2/3) same-label segment mean for queries &lt; 4 s; neighbors from original embeddings only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Invariants:</a:t>
            </a:r>
            <a:r>
              <a:rPr sz="1300" b="0">
                <a:solidFill>
                  <a:srgbClr val="333333"/>
                </a:solidFill>
                <a:latin typeface="Calibri"/>
              </a:rPr>
              <a:t> one diarization provider per run; enrollment frozen; encoders never mixed; text never influences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971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How the benchmark uses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29184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Online TST policy:</a:t>
            </a:r>
            <a:r>
              <a:rPr sz="1300" b="0">
                <a:solidFill>
                  <a:srgbClr val="333333"/>
                </a:solidFill>
                <a:latin typeface="Calibri"/>
              </a:rPr>
              <a:t> ECAPA vectors feed the unchanged native VideoGraph voice policy — mean pairwise cosine, threshold 0.6, ≤20 embeddings per node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No pre-enrollment:</a:t>
            </a:r>
            <a:r>
              <a:rPr sz="1300" b="0">
                <a:solidFill>
                  <a:srgbClr val="333333"/>
                </a:solidFill>
                <a:latin typeface="Calibri"/>
              </a:rPr>
              <a:t> graphs start empty; unknown speech creates voice nodes (C2–C4); C1 keeps native CAM++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Frozen-enrollment evaluation deferred:</a:t>
            </a:r>
            <a:r>
              <a:rPr sz="1300" b="0">
                <a:solidFill>
                  <a:srgbClr val="333333"/>
                </a:solidFill>
                <a:latin typeface="Calibri"/>
              </a:rPr>
              <a:t> A/B/C/D comparison (CAM++ / cosine / AS-Norm / AS-Norm+top3) with DIR, FAR, FRR on held-out splits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Consolidation — the evidence package for the reasoning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CONSOLIDATION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One incremental window per call (previous_cutoff_clip → current_cutoff_clip). Example: jake/C3 @1,200 s — 285 KB JSON packet, 310,755 input tokens.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691640"/>
          <a:ext cx="1138428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644652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Packet component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Contents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Example (snapshot 47)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observations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New utterances: clip id, interval, raw voice id, transcript(s) with source labels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33 utterances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assignment_evidence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Pre-mutation TST/CAM++ candidate scores per utterance (recorded before any graph change)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33 records, TST @0.6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clusters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Voice clusters over new observations; possible_mixed flags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25 clusters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characters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Current native character registry — state, not proof of identity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person_0…N, voice/face ids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memories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Episodic + semantic claims with evidence ids; retired claims marked, never citable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798 memories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moss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Run-scoped speaker segments + alignments covering exactly the window; labels not portable across runs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275-segment run, S01–S04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source_gaps / cutoffs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Declared media gaps; session_id, base_graph_version, exact cutoffs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 gaps; cutoff 1,200.0 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references / cannot_link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Existing reference resolutions; hard negative constraints always apply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versioned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patch schema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JSON-schema-constrained decisions: assign_cluster, reassign_utterances, set_name, revise_claim, resolve_reference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fail-closed executor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1722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A7A"/>
                </a:solidFill>
                <a:latin typeface="Calibri"/>
              </a:rPr>
              <a:t>Objective is recall-oriented identity consolidation: assign most observations, defer only on genuine competing evidence; every decision carries confidence, rationale, and citable evidence ids.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Consolidation — coordination with the live VideoGraph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CONSOLIDATION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The runtime wraps the existing M3 writer; it never replaces the live graph with a historical snapshot.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ctr"/>
            <a:r>
              <a:rPr sz="1400" b="1">
                <a:solidFill>
                  <a:srgbClr val="112D4E"/>
                </a:solidFill>
                <a:latin typeface="Calibri"/>
              </a:rPr>
              <a:t>1 · Attach</a:t>
            </a:r>
          </a:p>
          <a:p>
            <a:pPr>
              <a:lnSpc>
                <a:spcPct val="102000"/>
              </a:lnSpc>
            </a:pPr>
            <a:r>
              <a:rPr sz="1100">
                <a:solidFill>
                  <a:srgbClr val="404040"/>
                </a:solidFill>
                <a:latin typeface="Calibri"/>
              </a:rPr>
              <a:t>ConsolidationRuntime attaches to the live VideoGraph; normal voice/face/episodic/semantic construction continues inside process_segment.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78308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ctr"/>
            <a:r>
              <a:rPr sz="1400" b="1">
                <a:solidFill>
                  <a:srgbClr val="112D4E"/>
                </a:solidFill>
                <a:latin typeface="Calibri"/>
              </a:rPr>
              <a:t>2 · Freeze</a:t>
            </a:r>
          </a:p>
          <a:p>
            <a:pPr>
              <a:lnSpc>
                <a:spcPct val="102000"/>
              </a:lnSpc>
            </a:pPr>
            <a:r>
              <a:rPr sz="1100">
                <a:solidFill>
                  <a:srgbClr val="404040"/>
                </a:solidFill>
                <a:latin typeface="Calibri"/>
              </a:rPr>
              <a:t>At each 1,200 s clip boundary the graph is deep-copied with construction revision + cutoff. The snapshot can never acquire later observations.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38744" y="178308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ctr"/>
            <a:r>
              <a:rPr sz="1400" b="1">
                <a:solidFill>
                  <a:srgbClr val="112D4E"/>
                </a:solidFill>
                <a:latin typeface="Calibri"/>
              </a:rPr>
              <a:t>3 · Reason</a:t>
            </a:r>
          </a:p>
          <a:p>
            <a:pPr>
              <a:lnSpc>
                <a:spcPct val="102000"/>
              </a:lnSpc>
            </a:pPr>
            <a:r>
              <a:rPr sz="1100">
                <a:solidFill>
                  <a:srgbClr val="404040"/>
                </a:solidFill>
                <a:latin typeface="Calibri"/>
              </a:rPr>
              <a:t>Worker runs the MOSS window stage over exactly [previous cutoff, snapshot cutoff], builds the evidence packet, calls Sol/Astra once. MOSS failure leaves the window retryable.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355848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ctr"/>
            <a:r>
              <a:rPr sz="1400" b="1">
                <a:solidFill>
                  <a:srgbClr val="112D4E"/>
                </a:solidFill>
                <a:latin typeface="Calibri"/>
              </a:rPr>
              <a:t>4 · Reconcile</a:t>
            </a:r>
          </a:p>
          <a:p>
            <a:pPr>
              <a:lnSpc>
                <a:spcPct val="102000"/>
              </a:lnSpc>
            </a:pPr>
            <a:r>
              <a:rPr sz="1100">
                <a:solidFill>
                  <a:srgbClr val="404040"/>
                </a:solidFill>
                <a:latin typeface="Calibri"/>
              </a:rPr>
              <a:t>Patch application validates cutoffs and identity bases, then reconciles against current native state — concurrently allocated character ids are retained and remapped.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3355848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ctr"/>
            <a:r>
              <a:rPr sz="1400" b="1">
                <a:solidFill>
                  <a:srgbClr val="112D4E"/>
                </a:solidFill>
                <a:latin typeface="Calibri"/>
              </a:rPr>
              <a:t>5 · Reindex</a:t>
            </a:r>
          </a:p>
          <a:p>
            <a:pPr>
              <a:lnSpc>
                <a:spcPct val="102000"/>
              </a:lnSpc>
            </a:pPr>
            <a:r>
              <a:rPr sz="1100">
                <a:solidFill>
                  <a:srgbClr val="404040"/>
                </a:solidFill>
                <a:latin typeface="Calibri"/>
              </a:rPr>
              <a:t>Changed canonical text is marked embedding_stale; selective re-embedding installs only if the live identity revision still matches. Old vectors stay searchable meanwhile.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38744" y="3355848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ctr"/>
            <a:r>
              <a:rPr sz="1400" b="1">
                <a:solidFill>
                  <a:srgbClr val="112D4E"/>
                </a:solidFill>
                <a:latin typeface="Calibri"/>
              </a:rPr>
              <a:t>6 · Publish</a:t>
            </a:r>
          </a:p>
          <a:p>
            <a:pPr>
              <a:lnSpc>
                <a:spcPct val="102000"/>
              </a:lnSpc>
            </a:pPr>
            <a:r>
              <a:rPr sz="1100">
                <a:solidFill>
                  <a:srgbClr val="404040"/>
                </a:solidFill>
                <a:latin typeface="Calibri"/>
              </a:rPr>
              <a:t>Mandol dense/BM25/SPLADE bundle rebuilds; CURRENT.json advances atomically only after all checks pass. Any failure keeps the previous published version.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07492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>
                <a:solidFill>
                  <a:srgbClr val="333333"/>
                </a:solidFill>
                <a:latin typeface="Calibri"/>
              </a:rPr>
              <a:t>•  Ordering guarantee:</a:t>
            </a:r>
            <a:r>
              <a:rPr sz="1250" b="0">
                <a:solidFill>
                  <a:srgbClr val="333333"/>
                </a:solidFill>
                <a:latin typeface="Calibri"/>
              </a:rPr>
              <a:t> all C1–C4 observations commit before maintenance; consolidation and native reindexing finish before compression, hourly persistence, and same-time QA.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>
                <a:solidFill>
                  <a:srgbClr val="333333"/>
                </a:solidFill>
                <a:latin typeface="Calibri"/>
              </a:rPr>
              <a:t>•  Fail-closed:</a:t>
            </a:r>
            <a:r>
              <a:rPr sz="1250" b="0">
                <a:solidFill>
                  <a:srgbClr val="333333"/>
                </a:solidFill>
                <a:latin typeface="Calibri"/>
              </a:rPr>
              <a:t> failed consolidation stops execution; no completed graph is filtered backwards to approximate an earlier query.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Benchmark setup — online construction and one-shot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Four construction variants over identical event streams; two retrieval paths evaluated per question at immutable graph snapshots.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691640"/>
          <a:ext cx="113842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/>
                <a:gridCol w="3108960"/>
                <a:gridCol w="2377440"/>
                <a:gridCol w="196596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Speaker frontend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Consolidation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Memory retention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33333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CAM++ (native, threshold 0.6)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retain 50%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Production baseline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33333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TST / ECAPA-TDNN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retain 50%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Frontend ablation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33333"/>
                          </a:solidFill>
                          <a:latin typeface="Calibri"/>
                        </a:rPr>
                        <a:t>C3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TST / ECAPA-TDNN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Sol, every 1,200 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retain 50%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Consolidation ablation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33333"/>
                          </a:solidFill>
                          <a:latin typeface="Calibri"/>
                        </a:rPr>
                        <a:t>C4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TST / ECAPA-TDNN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Sol, every 1,200 s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retain 70%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Full configuration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3794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Retrieval paths (identical answer prompt; evidence differs)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4114800"/>
          <a:ext cx="11384280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560320"/>
                <a:gridCol w="470916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Stages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R1 · native StreamMeCo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M3 VideoGraph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Query embedding → dense vector search → TMR scoring → node lookup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Graph nodes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R2 · Mandol hybrid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Mandol worker per snapshot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Dense + BM25 + SPLADE → RRF fusion → Qwen3-Reranker-0.6B (302.AI)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Top-10 units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525780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333333"/>
                </a:solidFill>
                <a:latin typeface="Calibri"/>
              </a:rPr>
              <a:t>Construction: </a:t>
            </a:r>
            <a:r>
              <a:rPr sz="1250" b="0">
                <a:solidFill>
                  <a:srgbClr val="333333"/>
                </a:solidFill>
                <a:latin typeface="Calibri"/>
              </a:rPr>
              <a:t>gpt-5.6-terra (medium), 2 fps frames + face/voice evidence, one structured JSON request per ≤30 s clip.  </a:t>
            </a:r>
            <a:r>
              <a:rPr sz="1250" b="1">
                <a:solidFill>
                  <a:srgbClr val="333333"/>
                </a:solidFill>
                <a:latin typeface="Calibri"/>
              </a:rPr>
              <a:t>Consolidation: </a:t>
            </a:r>
            <a:r>
              <a:rPr sz="1250" b="0">
                <a:solidFill>
                  <a:srgbClr val="333333"/>
                </a:solidFill>
                <a:latin typeface="Calibri"/>
              </a:rPr>
              <a:t>gpt-5.6-sol (high) via propose_official. Reranking or consolidation failure stops the run — no silent fallback.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333333"/>
                </a:solidFill>
                <a:latin typeface="Calibri"/>
              </a:rPr>
              <a:t>Schedules: </a:t>
            </a:r>
            <a:r>
              <a:rPr sz="1250" b="0">
                <a:solidFill>
                  <a:srgbClr val="333333"/>
                </a:solidFill>
                <a:latin typeface="Calibri"/>
              </a:rPr>
              <a:t>102 Jake Day-1 questions (EgoLife) at recording wall-clock times; 1,000 AEA questions on the derived causal QA schedule.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Memory construction latency — stage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RESULTS ·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C1–C3 counted together: decode and ASR are shared per event; nested stages overlap and must not be summed. 91 media clips, first 2,400 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Process-segment wall</a:t>
            </a:r>
          </a:p>
          <a:p>
            <a:pPr>
              <a:spcAft>
                <a:spcPts val="200"/>
              </a:spcAft>
            </a:pPr>
            <a:r>
              <a:rPr sz="2400" b="1">
                <a:solidFill>
                  <a:srgbClr val="2E6DA4"/>
                </a:solidFill>
                <a:latin typeface="Calibri"/>
              </a:rPr>
              <a:t>≈ 17.2–17.8 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Mean per 30 s clip, admission→commit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Terra memory generation</a:t>
            </a:r>
          </a:p>
          <a:p>
            <a:pPr>
              <a:spcAft>
                <a:spcPts val="200"/>
              </a:spcAft>
            </a:pPr>
            <a:r>
              <a:rPr sz="2400" b="1">
                <a:solidFill>
                  <a:srgbClr val="2E7D4F"/>
                </a:solidFill>
                <a:latin typeface="Calibri"/>
              </a:rPr>
              <a:t>14.5–15.2 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Dominant stage (VLM call, 2 fps)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4592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Speaker mapping</a:t>
            </a:r>
          </a:p>
          <a:p>
            <a:pPr>
              <a:spcAft>
                <a:spcPts val="200"/>
              </a:spcAft>
            </a:pPr>
            <a:r>
              <a:rPr sz="2400" b="1">
                <a:solidFill>
                  <a:srgbClr val="B47A1E"/>
                </a:solidFill>
                <a:latin typeface="Calibri"/>
              </a:rPr>
              <a:t>148 → 34 ms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CAM++ (C1) vs TST ECAPA (C2–C3), when speech present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834640"/>
          <a:ext cx="1138428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2011680"/>
                <a:gridCol w="2743200"/>
                <a:gridCol w="2788920"/>
              </a:tblGrid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Stage (mean ms)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C1 · CAM++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C3 · TST + consolidation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Clip decode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2,963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2,963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Shared across C1–C4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Shared ASR cache / request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769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769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Deepgram diarize v2, content-cached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Audio segmentation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3.6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Speaker mapping (incl. embedding)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148.0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34.2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28 speech-bearing clips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Face detection / recognition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1,882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1,850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GPU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Face clustering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4.5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4.5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VLM context preparation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Terra memory generation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14,496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15,173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gpt-5.6-terra, P95 21.5–40.9 s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Memory text embedding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620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577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text-embedding-3-large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Graph update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10.8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12D4E"/>
                          </a:solidFill>
                          <a:latin typeface="Calibri"/>
                        </a:rPr>
                        <a:t>Admission → commit wall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12D4E"/>
                          </a:solidFill>
                          <a:latin typeface="Calibri"/>
                        </a:rPr>
                        <a:t>17,209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12D4E"/>
                          </a:solidFill>
                          <a:latin typeface="Calibri"/>
                        </a:rPr>
                        <a:t>17,763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12D4E"/>
                          </a:solidFill>
                          <a:latin typeface="Calibri"/>
                        </a:rPr>
                        <a:t>End-to-end per clip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Memory retrieval latency — warm path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RESULTS ·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Four completed Jake questions per method; C1–C3 averaged (C4 equal within noise). One-time index construction excluded.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R1 warm retrieval</a:t>
            </a:r>
          </a:p>
          <a:p>
            <a:pPr>
              <a:spcAft>
                <a:spcPts val="200"/>
              </a:spcAft>
            </a:pPr>
            <a:r>
              <a:rPr sz="2400" b="1">
                <a:solidFill>
                  <a:srgbClr val="2E6DA4"/>
                </a:solidFill>
                <a:latin typeface="Calibri"/>
              </a:rPr>
              <a:t>≈ 668 ms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Native M3: embedding + vector search dominate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R2 warm retrieval</a:t>
            </a:r>
          </a:p>
          <a:p>
            <a:pPr>
              <a:spcAft>
                <a:spcPts val="200"/>
              </a:spcAft>
            </a:pPr>
            <a:r>
              <a:rPr sz="2400" b="1">
                <a:solidFill>
                  <a:srgbClr val="2E7D4F"/>
                </a:solidFill>
                <a:latin typeface="Calibri"/>
              </a:rPr>
              <a:t>≈ 2,954 ms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Mandol hybrid: dense embed + 302 rerank dominate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4592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Answer TTFT</a:t>
            </a:r>
          </a:p>
          <a:p>
            <a:pPr>
              <a:spcAft>
                <a:spcPts val="200"/>
              </a:spcAft>
            </a:pPr>
            <a:r>
              <a:rPr sz="2400" b="1">
                <a:solidFill>
                  <a:srgbClr val="B47A1E"/>
                </a:solidFill>
                <a:latin typeface="Calibri"/>
              </a:rPr>
              <a:t>3,095 / 1,037 ms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R1 / R2 time to first streamed token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834640"/>
          <a:ext cx="11384280" cy="31683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/>
                <a:gridCol w="2743200"/>
                <a:gridCol w="3154680"/>
              </a:tblGrid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Stage (mean ms)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R1 · native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R2 · Mandol hybrid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Query text / dense embedding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402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1,475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Dense vector search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  (inside fusion)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Hybrid dense + BM25 + SPLADE, RRF fusion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1,497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StreamMeCo TMR scoring + node selection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2.6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Reranking (Qwen3-0.6B via 302.AI)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1,454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Result lookup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Retrieval round total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526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2,954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Answer TTFT (first token)</a:t>
                      </a:r>
                    </a:p>
                  </a:txBody>
                  <a:tcPr marT="25400" marB="25400" marL="73152" marR="54864" anchor="ctr">
                    <a:solidFill>
                      <a:srgbClr val="E4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3,095</a:t>
                      </a:r>
                    </a:p>
                  </a:txBody>
                  <a:tcPr marT="25400" marB="25400" marL="73152" marR="54864" anchor="ctr">
                    <a:solidFill>
                      <a:srgbClr val="E4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1,037</a:t>
                      </a:r>
                    </a:p>
                  </a:txBody>
                  <a:tcPr marT="25400" marB="25400" marL="73152" marR="54864" anchor="ctr">
                    <a:solidFill>
                      <a:srgbClr val="E4EEF7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Question → first token (incl. retrieval)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3,815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4,028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Question → answer complete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4,540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4,581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2636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A7A"/>
                </a:solidFill>
                <a:latin typeface="Calibri"/>
              </a:rPr>
              <a:t>R2's extra ≈2.3 s of retrieval buys different evidence (top-10 reranked units) and streams its first token ~3× faster.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Retrieval quality — exact-match accuracy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RESULTS ·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First four scheduled Jake questions only (4/102); benchmark evaluator's exact multiple-choice result. Small sample — directional, not final.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691640"/>
          <a:ext cx="113842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2103120"/>
                <a:gridCol w="2651760"/>
                <a:gridCol w="3337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R1 · native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R2 · Mandol hybrid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C1 · CAM++, retain50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1/4 (25%)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1/4 (25%)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Different questions correct per path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C2 · TST, retain50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1/4 (25%)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1/4 (25%)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R1 and R2 agree here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C3 · TST + consolidation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2/4 (50%)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0/4 (0%)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Both consolidations ran before QA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C4 · TST + consolidation, retain70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0/4 (0%)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2/4 (50%)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Best R2 result so far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3657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Per-question (reference in brackets) — C4 example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3977639"/>
          <a:ext cx="1138428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0"/>
                <a:gridCol w="914400"/>
                <a:gridCol w="1554480"/>
                <a:gridCol w="16002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C4-R1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C4-R2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Who used the screwdriver first?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Where was the black marker in Shure's hand before?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Where was the small clapperboard on the table placed before?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Who just helped Katrina put the flowers on the table?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5897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A7A"/>
                </a:solidFill>
                <a:latin typeface="Calibri"/>
              </a:rPr>
              <a:t>Consolidation + higher retention (C4) currently helps the reranked Mandol path; the native path leads for C3. R2 evidence is the fused top-10 units per snapshot.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Consolidation backend comparison — Astra vs Sol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RESULTS ·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Controlled replay (recall_20): identical instructions, evidence, cutoff, and baseline graph; only the model field changed. Reasoning = high for both.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Astra round 1</a:t>
            </a:r>
          </a:p>
          <a:p>
            <a:pPr>
              <a:spcAft>
                <a:spcPts val="200"/>
              </a:spcAft>
            </a:pPr>
            <a:r>
              <a:rPr sz="2600" b="1">
                <a:solidFill>
                  <a:srgbClr val="2E6DA4"/>
                </a:solidFill>
                <a:latin typeface="Calibri"/>
              </a:rPr>
              <a:t>$9.52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gpt-6-astra · 310,755 in / 23,295 out · &gt;272K long-context rates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9164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Sol high</a:t>
            </a:r>
          </a:p>
          <a:p>
            <a:pPr>
              <a:spcAft>
                <a:spcPts val="200"/>
              </a:spcAft>
            </a:pPr>
            <a:r>
              <a:rPr sz="2600" b="1">
                <a:solidFill>
                  <a:srgbClr val="2E7D4F"/>
                </a:solidFill>
                <a:latin typeface="Calibri"/>
              </a:rPr>
              <a:t>$3.49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gpt-5.6-sol · 310,755 in / 12,835 out (8,945 reasoning)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9164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Cost reduction</a:t>
            </a:r>
          </a:p>
          <a:p>
            <a:pPr>
              <a:spcAft>
                <a:spcPts val="200"/>
              </a:spcAft>
            </a:pPr>
            <a:r>
              <a:rPr sz="2600" b="1">
                <a:solidFill>
                  <a:srgbClr val="B47A1E"/>
                </a:solidFill>
                <a:latin typeface="Calibri"/>
              </a:rPr>
              <a:t>−63.3%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Same evidence packet, same executor, 0 rejected decisions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3017520"/>
          <a:ext cx="1138428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3840480"/>
                <a:gridCol w="35204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Metric (20-min window, 224 observations)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Astra round 1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Sol high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Assigned observations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216 (96.4%)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220 (98.2%)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Accepted / rejected decisions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71 / 4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15 / 0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Canonical entities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 (Jake 94, Xiu Shuo 58, +2 unnamed)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 (Jake 100, Xiu Shuo 55, +2 unnamed)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Agreement with Astra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209 same / 11 differ (4 new, 7 changed entity)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Baseline for contrast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24 assigned (10.7%), 24 named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534924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Two sequential Astra rounds lifted named coverage from 24 → 152 observations (67.9%); round 2 added 15 reference resolutions with zero assignment churn.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1">
                <a:solidFill>
                  <a:srgbClr val="5A6A7A"/>
                </a:solidFill>
                <a:latin typeface="Calibri"/>
              </a:rPr>
              <a:t>Caveat: coverage is measured, not identity accuracy — no independent identity gold set exists.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Cost analysis — current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Where the money goes in the current Terra/Sol configuration, measured from retained request/usage records.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Current configuration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011680"/>
          <a:ext cx="1138428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5120640"/>
                <a:gridCol w="388620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Model / setting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Memory construction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gpt-5.6-terra, medium reasoning, 2 fps frames + face/voice evidence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 structured request per ≤30 s clip (~91 clips / 2,400 s)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Consolidation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gpt-5.6-sol, high reasoning (Astra tested on the same graph earlier)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 window call per 1,200 media s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Consolidation input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310,755 input tokens per window (285 KB packet; 310,752 cache-write)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12,835 output (8,945 reasoning)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Retrieval / rerank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text-embedding-3-large + Qwen3-Reranker-0.6B via 302.AI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Per question + per snapshot index build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4160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Measured costs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4480560"/>
          <a:ext cx="113842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4720"/>
                <a:gridCol w="2103120"/>
                <a:gridCol w="5806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Consolidation window — Astra high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$9.52 / window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Long-context (&gt;272K) rates: $25/M cache-write, $75/M output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Consolidation window — Sol high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$3.49 / window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$10/M cache-write, $30/M output, $0.8/M cached input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6 h stream at 1,200 s cadence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≈ $63 (Sol) per dataset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18 windows × $3.49 — excludes construction VLM, embeddings, MOSS</a:t>
                      </a:r>
                    </a:p>
                  </a:txBody>
                  <a:tcPr marT="25400" marB="25400" marL="73152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Construction (Terra, 2 fps)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Dominant driver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15.2 s VLM mean × ~820 clips per 6 h stream; usage retained per request</a:t>
                      </a:r>
                    </a:p>
                  </a:txBody>
                  <a:tcPr marT="25400" marB="25400" marL="73152" marR="54864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47395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A7A"/>
                </a:solidFill>
                <a:latin typeface="Calibri"/>
              </a:rPr>
              <a:t>Astra was evaluated as the consolidation backend on the previous 20-minute graph; Sol high matched its decisions on 209/220 assignments at 36.7% of the cost.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Scale out with a cheaper configuration; close out the interrupted run.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11338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•  1 · New 10-hour run, cheaper configuration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0">
                <a:solidFill>
                  <a:srgbClr val="333333"/>
                </a:solidFill>
                <a:latin typeface="Calibri"/>
              </a:rPr>
              <a:t>   Primary construction backend: Luna (replacing Terra); Sol used occasionally for consolidation only.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0">
                <a:solidFill>
                  <a:srgbClr val="333333"/>
                </a:solidFill>
                <a:latin typeface="Calibri"/>
              </a:rPr>
              <a:t>   Frame sampling 2 fps → 1 fps — halves construction image tokens.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0">
                <a:solidFill>
                  <a:srgbClr val="333333"/>
                </a:solidFill>
                <a:latin typeface="Calibri"/>
              </a:rPr>
              <a:t>   Drop TST speaker frontend — keep the single native voice path; removes ECAPA extraction and the C1-vs-C2–C4 split.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0">
                <a:solidFill>
                  <a:srgbClr val="333333"/>
                </a:solidFill>
                <a:latin typeface="Calibri"/>
              </a:rPr>
              <a:t>   Expected effect: substantially lower construction cost at modest evidence density loss; consolidation cost already reduced 63% by Sol.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•  2 · Close out the current Terra/Sol run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0">
                <a:solidFill>
                  <a:srgbClr val="333333"/>
                </a:solidFill>
                <a:latin typeface="Calibri"/>
              </a:rPr>
              <a:t>   Fix the fail-closed 302.AI dense-embedding rejection (BadRequestError on the 1,881-unit batch) and resume Jake from event 109; then run the AEA 6 h schedule.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•  3 · Deferred TST evaluation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350" b="0">
                <a:solidFill>
                  <a:srgbClr val="333333"/>
                </a:solidFill>
                <a:latin typeface="Calibri"/>
              </a:rPr>
              <a:t>   Frozen-enrollment A/B/C/D comparison (CAM++ / cosine / AS-Norm / AS-Norm+top3) with calibrated DIR@FAR remains a separate offline deliverable.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